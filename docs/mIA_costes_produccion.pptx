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2" d="100"/>
          <a:sy n="112" d="100"/>
        </p:scale>
        <p:origin x="51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chemeClr val="accent5"/>
                </a:solidFill>
                <a:latin typeface="+mn-lt"/>
              </a:defRPr>
            </a:pPr>
            <a:r>
              <a:rPr lang="es-ES" sz="1300" b="0" i="0" u="none" strike="noStrike">
                <a:solidFill>
                  <a:schemeClr val="accent5"/>
                </a:solidFill>
                <a:latin typeface="+mn-lt"/>
              </a:rPr>
              <a:t>€/mes por escenario (apilado por categoría de coste)</a:t>
            </a:r>
          </a:p>
        </c:rich>
      </c:tx>
      <c:overlay val="0"/>
    </c:title>
    <c:autoTitleDeleted val="0"/>
    <c:plotArea>
      <c:layout/>
      <c:barChart>
        <c:barDir val="col"/>
        <c:grouping val="stacked"/>
        <c:varyColors val="0"/>
        <c:ser>
          <c:idx val="0"/>
          <c:order val="0"/>
          <c:tx>
            <c:strRef>
              <c:f>Sheet1!$B$1</c:f>
              <c:strCache>
                <c:ptCount val="1"/>
                <c:pt idx="0">
                  <c:v>Azure (infraestructura)</c:v>
                </c:pt>
              </c:strCache>
            </c:strRef>
          </c:tx>
          <c:spPr>
            <a:solidFill>
              <a:schemeClr val="accent1"/>
            </a:solidFill>
            <a:effectLst/>
          </c:spPr>
          <c:invertIfNegative val="0"/>
          <c:dLbls>
            <c:numFmt formatCode="[&gt;1.5]0&quot; €&quot;;&quot;&quot;" sourceLinked="0"/>
            <c:spPr>
              <a:noFill/>
              <a:ln>
                <a:noFill/>
              </a:ln>
              <a:effectLst/>
            </c:spPr>
            <c:txPr>
              <a:bodyPr/>
              <a:lstStyle/>
              <a:p>
                <a:pPr>
                  <a:defRPr sz="1000" b="0" i="0" u="none" strike="noStrike">
                    <a:solidFill>
                      <a:srgbClr val="FFFFFF"/>
                    </a:solidFill>
                    <a:latin typeface="Arial"/>
                  </a:defRPr>
                </a:pPr>
                <a:endParaRPr lang="es-E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 usuario
ligero (texto)</c:v>
                </c:pt>
                <c:pt idx="1">
                  <c:v>1 usuario
intensivo + voz</c:v>
                </c:pt>
                <c:pt idx="2">
                  <c:v>5 usuarios
equipo mixto</c:v>
                </c:pt>
                <c:pt idx="3">
                  <c:v>10 usuarios
despliegue departamental</c:v>
                </c:pt>
              </c:strCache>
            </c:strRef>
          </c:cat>
          <c:val>
            <c:numRef>
              <c:f>Sheet1!$B$2:$B$5</c:f>
              <c:numCache>
                <c:formatCode>General</c:formatCode>
                <c:ptCount val="4"/>
                <c:pt idx="0">
                  <c:v>72</c:v>
                </c:pt>
                <c:pt idx="1">
                  <c:v>72</c:v>
                </c:pt>
                <c:pt idx="2">
                  <c:v>72</c:v>
                </c:pt>
                <c:pt idx="3">
                  <c:v>72</c:v>
                </c:pt>
              </c:numCache>
            </c:numRef>
          </c:val>
          <c:extLst>
            <c:ext xmlns:c16="http://schemas.microsoft.com/office/drawing/2014/chart" uri="{C3380CC4-5D6E-409C-BE32-E72D297353CC}">
              <c16:uniqueId val="{00000000-7B8F-48B8-AF47-5F7E6D1CEB47}"/>
            </c:ext>
          </c:extLst>
        </c:ser>
        <c:ser>
          <c:idx val="1"/>
          <c:order val="1"/>
          <c:tx>
            <c:strRef>
              <c:f>Sheet1!$C$1</c:f>
              <c:strCache>
                <c:ptCount val="1"/>
                <c:pt idx="0">
                  <c:v>LLM (GPT-4.1)</c:v>
                </c:pt>
              </c:strCache>
            </c:strRef>
          </c:tx>
          <c:spPr>
            <a:solidFill>
              <a:schemeClr val="accent3"/>
            </a:solidFill>
            <a:effectLst/>
          </c:spPr>
          <c:invertIfNegative val="0"/>
          <c:dLbls>
            <c:numFmt formatCode="[&gt;1.5]0&quot; €&quot;;&quot;&quot;" sourceLinked="0"/>
            <c:spPr>
              <a:noFill/>
              <a:ln>
                <a:noFill/>
              </a:ln>
              <a:effectLst/>
            </c:spPr>
            <c:txPr>
              <a:bodyPr/>
              <a:lstStyle/>
              <a:p>
                <a:pPr>
                  <a:defRPr sz="1000" b="0" i="0" u="none" strike="noStrike">
                    <a:solidFill>
                      <a:srgbClr val="FFFFFF"/>
                    </a:solidFill>
                    <a:latin typeface="Arial"/>
                  </a:defRPr>
                </a:pPr>
                <a:endParaRPr lang="es-E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 usuario
ligero (texto)</c:v>
                </c:pt>
                <c:pt idx="1">
                  <c:v>1 usuario
intensivo + voz</c:v>
                </c:pt>
                <c:pt idx="2">
                  <c:v>5 usuarios
equipo mixto</c:v>
                </c:pt>
                <c:pt idx="3">
                  <c:v>10 usuarios
despliegue departamental</c:v>
                </c:pt>
              </c:strCache>
            </c:strRef>
          </c:cat>
          <c:val>
            <c:numRef>
              <c:f>Sheet1!$C$2:$C$5</c:f>
              <c:numCache>
                <c:formatCode>General</c:formatCode>
                <c:ptCount val="4"/>
                <c:pt idx="0">
                  <c:v>0.7</c:v>
                </c:pt>
                <c:pt idx="1">
                  <c:v>8.58</c:v>
                </c:pt>
                <c:pt idx="2">
                  <c:v>15.86</c:v>
                </c:pt>
                <c:pt idx="3">
                  <c:v>31.72</c:v>
                </c:pt>
              </c:numCache>
            </c:numRef>
          </c:val>
          <c:extLst>
            <c:ext xmlns:c16="http://schemas.microsoft.com/office/drawing/2014/chart" uri="{C3380CC4-5D6E-409C-BE32-E72D297353CC}">
              <c16:uniqueId val="{00000001-7B8F-48B8-AF47-5F7E6D1CEB47}"/>
            </c:ext>
          </c:extLst>
        </c:ser>
        <c:ser>
          <c:idx val="2"/>
          <c:order val="2"/>
          <c:tx>
            <c:strRef>
              <c:f>Sheet1!$D$1</c:f>
              <c:strCache>
                <c:ptCount val="1"/>
                <c:pt idx="0">
                  <c:v>Voz (ElevenLabs)</c:v>
                </c:pt>
              </c:strCache>
            </c:strRef>
          </c:tx>
          <c:spPr>
            <a:solidFill>
              <a:schemeClr val="accent2"/>
            </a:solidFill>
            <a:effectLst/>
          </c:spPr>
          <c:invertIfNegative val="0"/>
          <c:dLbls>
            <c:numFmt formatCode="[&gt;1.5]0&quot; €&quot;;&quot;&quot;" sourceLinked="0"/>
            <c:spPr>
              <a:noFill/>
              <a:ln>
                <a:noFill/>
              </a:ln>
              <a:effectLst/>
            </c:spPr>
            <c:txPr>
              <a:bodyPr/>
              <a:lstStyle/>
              <a:p>
                <a:pPr>
                  <a:defRPr sz="1000" b="0" i="0" u="none" strike="noStrike">
                    <a:solidFill>
                      <a:srgbClr val="FFFFFF"/>
                    </a:solidFill>
                    <a:latin typeface="Arial"/>
                  </a:defRPr>
                </a:pPr>
                <a:endParaRPr lang="es-E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 usuario
ligero (texto)</c:v>
                </c:pt>
                <c:pt idx="1">
                  <c:v>1 usuario
intensivo + voz</c:v>
                </c:pt>
                <c:pt idx="2">
                  <c:v>5 usuarios
equipo mixto</c:v>
                </c:pt>
                <c:pt idx="3">
                  <c:v>10 usuarios
despliegue departamental</c:v>
                </c:pt>
              </c:strCache>
            </c:strRef>
          </c:cat>
          <c:val>
            <c:numRef>
              <c:f>Sheet1!$D$2:$D$5</c:f>
              <c:numCache>
                <c:formatCode>General</c:formatCode>
                <c:ptCount val="4"/>
                <c:pt idx="0">
                  <c:v>0</c:v>
                </c:pt>
                <c:pt idx="1">
                  <c:v>9.42</c:v>
                </c:pt>
                <c:pt idx="2">
                  <c:v>9.42</c:v>
                </c:pt>
                <c:pt idx="3">
                  <c:v>18.84</c:v>
                </c:pt>
              </c:numCache>
            </c:numRef>
          </c:val>
          <c:extLst>
            <c:ext xmlns:c16="http://schemas.microsoft.com/office/drawing/2014/chart" uri="{C3380CC4-5D6E-409C-BE32-E72D297353CC}">
              <c16:uniqueId val="{00000002-7B8F-48B8-AF47-5F7E6D1CEB47}"/>
            </c:ext>
          </c:extLst>
        </c:ser>
        <c:dLbls>
          <c:dLblPos val="ctr"/>
          <c:showLegendKey val="0"/>
          <c:showVal val="1"/>
          <c:showCatName val="0"/>
          <c:showSerName val="0"/>
          <c:showPercent val="0"/>
          <c:showBubbleSize val="0"/>
        </c:dLbls>
        <c:gapWidth val="3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chemeClr val="accent5"/>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9EE"/>
              </a:solidFill>
              <a:prstDash val="solid"/>
              <a:round/>
            </a:ln>
          </c:spPr>
        </c:majorGridlines>
        <c:title>
          <c:tx>
            <c:rich>
              <a:bodyPr/>
              <a:lstStyle/>
              <a:p>
                <a:pPr>
                  <a:defRPr sz="1100" b="0" i="0" u="none" strike="noStrike">
                    <a:solidFill>
                      <a:schemeClr val="accent5"/>
                    </a:solidFill>
                    <a:latin typeface="Arial"/>
                  </a:defRPr>
                </a:pPr>
                <a:r>
                  <a:rPr lang="es-ES" sz="1100" b="0" i="0" u="none" strike="noStrike">
                    <a:solidFill>
                      <a:schemeClr val="accent5"/>
                    </a:solidFill>
                    <a:latin typeface="Arial"/>
                  </a:rPr>
                  <a:t>€ / mes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chemeClr val="accent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chemeClr val="accent5"/>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1660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chemeClr val="accent5"/>
          </a:solidFill>
          <a:ln/>
        </p:spPr>
      </p:sp>
      <p:sp>
        <p:nvSpPr>
          <p:cNvPr id="3" name="Shape 1"/>
          <p:cNvSpPr/>
          <p:nvPr/>
        </p:nvSpPr>
        <p:spPr>
          <a:xfrm>
            <a:off x="9692640" y="-1097280"/>
            <a:ext cx="4206240" cy="4206240"/>
          </a:xfrm>
          <a:prstGeom prst="ellipse">
            <a:avLst/>
          </a:prstGeom>
          <a:solidFill>
            <a:schemeClr val="accent1"/>
          </a:solidFill>
          <a:ln/>
        </p:spPr>
      </p:sp>
      <p:sp>
        <p:nvSpPr>
          <p:cNvPr id="4" name="Shape 2"/>
          <p:cNvSpPr/>
          <p:nvPr/>
        </p:nvSpPr>
        <p:spPr>
          <a:xfrm>
            <a:off x="-2377440" y="4206240"/>
            <a:ext cx="5120640" cy="5120640"/>
          </a:xfrm>
          <a:prstGeom prst="ellipse">
            <a:avLst/>
          </a:prstGeom>
          <a:solidFill>
            <a:schemeClr val="accent5"/>
          </a:solidFill>
          <a:ln/>
        </p:spPr>
      </p:sp>
      <p:sp>
        <p:nvSpPr>
          <p:cNvPr id="5" name="Text 3"/>
          <p:cNvSpPr txBox="1"/>
          <p:nvPr/>
        </p:nvSpPr>
        <p:spPr>
          <a:xfrm>
            <a:off x="731520" y="1783080"/>
            <a:ext cx="9144000" cy="365760"/>
          </a:xfrm>
          <a:prstGeom prst="rect">
            <a:avLst/>
          </a:prstGeom>
          <a:noFill/>
          <a:ln/>
        </p:spPr>
        <p:txBody>
          <a:bodyPr wrap="square" lIns="0" tIns="0" rIns="0" bIns="0" rtlCol="0" anchor="ctr"/>
          <a:lstStyle/>
          <a:p>
            <a:pPr marL="0" indent="0">
              <a:buNone/>
            </a:pPr>
            <a:r>
              <a:rPr lang="en-US" sz="1400" b="1" kern="0" spc="200" dirty="0">
                <a:solidFill>
                  <a:schemeClr val="accent2"/>
                </a:solidFill>
                <a:latin typeface="Calibri" pitchFamily="34" charset="0"/>
                <a:ea typeface="Calibri" pitchFamily="34" charset="-122"/>
                <a:cs typeface="Calibri" pitchFamily="34" charset="-120"/>
              </a:rPr>
              <a:t>MIA · PLATAFORMA DE IA CONVERSACIONAL</a:t>
            </a:r>
            <a:endParaRPr lang="en-US" sz="1400" dirty="0"/>
          </a:p>
        </p:txBody>
      </p:sp>
      <p:sp>
        <p:nvSpPr>
          <p:cNvPr id="6" name="Text 4"/>
          <p:cNvSpPr txBox="1"/>
          <p:nvPr/>
        </p:nvSpPr>
        <p:spPr>
          <a:xfrm>
            <a:off x="731520" y="2194560"/>
            <a:ext cx="10241280" cy="1188720"/>
          </a:xfrm>
          <a:prstGeom prst="rect">
            <a:avLst/>
          </a:prstGeom>
          <a:noFill/>
          <a:ln/>
        </p:spPr>
        <p:txBody>
          <a:bodyPr wrap="square" lIns="0" tIns="0" rIns="0" bIns="0" rtlCol="0" anchor="ctr"/>
          <a:lstStyle/>
          <a:p>
            <a:pPr marL="0" indent="0">
              <a:buNone/>
            </a:pPr>
            <a:r>
              <a:rPr lang="en-US" sz="4400" b="1" dirty="0">
                <a:solidFill>
                  <a:schemeClr val="bg1"/>
                </a:solidFill>
                <a:latin typeface="Cambria" pitchFamily="34" charset="0"/>
                <a:ea typeface="Cambria" pitchFamily="34" charset="-122"/>
                <a:cs typeface="Cambria" pitchFamily="34" charset="-120"/>
              </a:rPr>
              <a:t>Costes mensuales en producción</a:t>
            </a:r>
            <a:endParaRPr lang="en-US" sz="4400" dirty="0"/>
          </a:p>
        </p:txBody>
      </p:sp>
      <p:sp>
        <p:nvSpPr>
          <p:cNvPr id="7" name="Text 5"/>
          <p:cNvSpPr txBox="1"/>
          <p:nvPr/>
        </p:nvSpPr>
        <p:spPr>
          <a:xfrm>
            <a:off x="731520" y="3337560"/>
            <a:ext cx="10058400" cy="457200"/>
          </a:xfrm>
          <a:prstGeom prst="rect">
            <a:avLst/>
          </a:prstGeom>
          <a:noFill/>
          <a:ln/>
        </p:spPr>
        <p:txBody>
          <a:bodyPr wrap="square" lIns="0" tIns="0" rIns="0" bIns="0" rtlCol="0" anchor="ctr"/>
          <a:lstStyle/>
          <a:p>
            <a:pPr marL="0" indent="0">
              <a:buNone/>
            </a:pPr>
            <a:r>
              <a:rPr lang="en-US" sz="1800" dirty="0">
                <a:solidFill>
                  <a:schemeClr val="accent6"/>
                </a:solidFill>
                <a:latin typeface="Calibri" pitchFamily="34" charset="0"/>
                <a:ea typeface="Calibri" pitchFamily="34" charset="-122"/>
                <a:cs typeface="Calibri" pitchFamily="34" charset="-120"/>
              </a:rPr>
              <a:t>Infraestructura en Azure · LLM (GPT-4.1) · Voz (ElevenLabs) · Servicios planificados</a:t>
            </a:r>
            <a:endParaRPr lang="en-US" sz="1800" dirty="0"/>
          </a:p>
        </p:txBody>
      </p:sp>
      <p:sp>
        <p:nvSpPr>
          <p:cNvPr id="8" name="Shape 6"/>
          <p:cNvSpPr/>
          <p:nvPr/>
        </p:nvSpPr>
        <p:spPr>
          <a:xfrm>
            <a:off x="777240" y="4160520"/>
            <a:ext cx="566928" cy="566928"/>
          </a:xfrm>
          <a:prstGeom prst="ellipse">
            <a:avLst/>
          </a:prstGeom>
          <a:solidFill>
            <a:schemeClr val="accent1"/>
          </a:solidFill>
          <a:ln/>
        </p:spPr>
      </p:sp>
      <p:pic>
        <p:nvPicPr>
          <p:cNvPr id="9" name="Image 0" descr="preencoded.png"/>
          <p:cNvPicPr>
            <a:picLocks noChangeAspect="1"/>
          </p:cNvPicPr>
          <p:nvPr/>
        </p:nvPicPr>
        <p:blipFill>
          <a:blip r:embed="rId3"/>
          <a:stretch>
            <a:fillRect/>
          </a:stretch>
        </p:blipFill>
        <p:spPr>
          <a:xfrm>
            <a:off x="924641" y="4307921"/>
            <a:ext cx="272125" cy="272125"/>
          </a:xfrm>
          <a:prstGeom prst="rect">
            <a:avLst/>
          </a:prstGeom>
        </p:spPr>
      </p:pic>
      <p:sp>
        <p:nvSpPr>
          <p:cNvPr id="10" name="Text 7"/>
          <p:cNvSpPr txBox="1"/>
          <p:nvPr/>
        </p:nvSpPr>
        <p:spPr>
          <a:xfrm>
            <a:off x="1508760" y="4187952"/>
            <a:ext cx="5486400" cy="502920"/>
          </a:xfrm>
          <a:prstGeom prst="rect">
            <a:avLst/>
          </a:prstGeom>
          <a:noFill/>
          <a:ln/>
        </p:spPr>
        <p:txBody>
          <a:bodyPr wrap="square" lIns="0" tIns="0" rIns="0" bIns="0" rtlCol="0" anchor="ctr"/>
          <a:lstStyle/>
          <a:p>
            <a:pPr marL="0" indent="0">
              <a:buNone/>
            </a:pPr>
            <a:r>
              <a:rPr lang="en-US" sz="1300" dirty="0">
                <a:solidFill>
                  <a:schemeClr val="bg1"/>
                </a:solidFill>
                <a:latin typeface="Calibri" pitchFamily="34" charset="0"/>
                <a:ea typeface="Calibri" pitchFamily="34" charset="-122"/>
                <a:cs typeface="Calibri" pitchFamily="34" charset="-120"/>
              </a:rPr>
              <a:t>Todos los precios en €/mes — tarifas oficiales en EUR</a:t>
            </a:r>
            <a:endParaRPr lang="en-US" sz="1300" dirty="0"/>
          </a:p>
        </p:txBody>
      </p:sp>
      <p:sp>
        <p:nvSpPr>
          <p:cNvPr id="11" name="Text 8"/>
          <p:cNvSpPr txBox="1"/>
          <p:nvPr/>
        </p:nvSpPr>
        <p:spPr>
          <a:xfrm>
            <a:off x="731520" y="6263640"/>
            <a:ext cx="10515600" cy="320040"/>
          </a:xfrm>
          <a:prstGeom prst="rect">
            <a:avLst/>
          </a:prstGeom>
          <a:noFill/>
          <a:ln/>
        </p:spPr>
        <p:txBody>
          <a:bodyPr wrap="square" lIns="0" tIns="0" rIns="0" bIns="0" rtlCol="0" anchor="ctr"/>
          <a:lstStyle/>
          <a:p>
            <a:pPr marL="0" indent="0">
              <a:buNone/>
            </a:pPr>
            <a:r>
              <a:rPr lang="en-US" sz="1100" i="1" dirty="0">
                <a:solidFill>
                  <a:schemeClr val="accent6"/>
                </a:solidFill>
                <a:latin typeface="Calibri" pitchFamily="34" charset="0"/>
                <a:ea typeface="Calibri" pitchFamily="34" charset="-122"/>
                <a:cs typeface="Calibri" pitchFamily="34" charset="-120"/>
              </a:rPr>
              <a:t>Fuentes: Azure Retail Prices API (EUR, Spain Central, consultada 20/10/2026) · elevenlabs.io/pricing · tipo de cambio BCE 20/10/2026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300" b="1" kern="0" spc="150" dirty="0">
                <a:solidFill>
                  <a:schemeClr val="accent1"/>
                </a:solidFill>
                <a:latin typeface="Calibri" pitchFamily="34" charset="0"/>
                <a:ea typeface="Calibri" pitchFamily="34" charset="-122"/>
                <a:cs typeface="Calibri" pitchFamily="34" charset="-120"/>
              </a:rPr>
              <a:t>RESUMEN EJECUTIVO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De 1 a 10 usuarios: ¿cuánto cuesta mIA al mes?</a:t>
            </a:r>
            <a:endParaRPr lang="en-US" sz="2800" dirty="0"/>
          </a:p>
        </p:txBody>
      </p:sp>
      <p:sp>
        <p:nvSpPr>
          <p:cNvPr id="4" name="Shape 2"/>
          <p:cNvSpPr/>
          <p:nvPr/>
        </p:nvSpPr>
        <p:spPr>
          <a:xfrm>
            <a:off x="548640" y="1645920"/>
            <a:ext cx="2606040" cy="2240280"/>
          </a:xfrm>
          <a:prstGeom prst="roundRect">
            <a:avLst>
              <a:gd name="adj" fmla="val 4082"/>
            </a:avLst>
          </a:prstGeom>
          <a:solidFill>
            <a:schemeClr val="bg2"/>
          </a:solidFill>
          <a:ln/>
          <a:effectLst>
            <a:outerShdw blurRad="101600" dist="38100" dir="5400000" algn="bl" rotWithShape="0">
              <a:srgbClr val="1B2B45">
                <a:alpha val="18000"/>
              </a:srgbClr>
            </a:outerShdw>
          </a:effectLst>
        </p:spPr>
      </p:sp>
      <p:sp>
        <p:nvSpPr>
          <p:cNvPr id="5" name="Shape 3"/>
          <p:cNvSpPr/>
          <p:nvPr/>
        </p:nvSpPr>
        <p:spPr>
          <a:xfrm>
            <a:off x="1504188" y="1901952"/>
            <a:ext cx="694944" cy="694944"/>
          </a:xfrm>
          <a:prstGeom prst="ellipse">
            <a:avLst/>
          </a:prstGeom>
          <a:solidFill>
            <a:schemeClr val="accent1"/>
          </a:solidFill>
          <a:ln/>
        </p:spPr>
      </p:sp>
      <p:pic>
        <p:nvPicPr>
          <p:cNvPr id="6" name="Image 0" descr="preencoded.png"/>
          <p:cNvPicPr>
            <a:picLocks noChangeAspect="1"/>
          </p:cNvPicPr>
          <p:nvPr/>
        </p:nvPicPr>
        <p:blipFill>
          <a:blip r:embed="rId3"/>
          <a:stretch>
            <a:fillRect/>
          </a:stretch>
        </p:blipFill>
        <p:spPr>
          <a:xfrm>
            <a:off x="1684873" y="2082637"/>
            <a:ext cx="333573" cy="333573"/>
          </a:xfrm>
          <a:prstGeom prst="rect">
            <a:avLst/>
          </a:prstGeom>
        </p:spPr>
      </p:pic>
      <p:sp>
        <p:nvSpPr>
          <p:cNvPr id="7" name="Text 4"/>
          <p:cNvSpPr txBox="1"/>
          <p:nvPr/>
        </p:nvSpPr>
        <p:spPr>
          <a:xfrm>
            <a:off x="685800" y="2724912"/>
            <a:ext cx="2331720" cy="45720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72 €</a:t>
            </a:r>
            <a:endParaRPr lang="en-US" sz="2200" dirty="0"/>
          </a:p>
        </p:txBody>
      </p:sp>
      <p:sp>
        <p:nvSpPr>
          <p:cNvPr id="8" name="Text 5"/>
          <p:cNvSpPr txBox="1"/>
          <p:nvPr/>
        </p:nvSpPr>
        <p:spPr>
          <a:xfrm>
            <a:off x="685800" y="3218688"/>
            <a:ext cx="2331720" cy="594360"/>
          </a:xfrm>
          <a:prstGeom prst="rect">
            <a:avLst/>
          </a:prstGeom>
          <a:noFill/>
          <a:ln/>
        </p:spPr>
        <p:txBody>
          <a:bodyPr wrap="square" lIns="0" tIns="0" rIns="0" bIns="0" rtlCol="0" anchor="ctr"/>
          <a:lstStyle/>
          <a:p>
            <a:pPr marL="0" indent="0" algn="ctr">
              <a:buNone/>
            </a:pPr>
            <a:r>
              <a:rPr lang="en-US" sz="1200" dirty="0">
                <a:solidFill>
                  <a:schemeClr val="accent5"/>
                </a:solidFill>
                <a:latin typeface="Calibri" pitchFamily="34" charset="0"/>
                <a:ea typeface="Calibri" pitchFamily="34" charset="-122"/>
                <a:cs typeface="Calibri" pitchFamily="34" charset="-120"/>
              </a:rPr>
              <a:t>Infraestructura Azure</a:t>
            </a:r>
            <a:endParaRPr lang="en-US" sz="1200" dirty="0"/>
          </a:p>
          <a:p>
            <a:pPr marL="0" indent="0" algn="ctr">
              <a:buNone/>
            </a:pPr>
            <a:r>
              <a:rPr lang="en-US" sz="1200" dirty="0">
                <a:solidFill>
                  <a:schemeClr val="accent5"/>
                </a:solidFill>
                <a:latin typeface="Calibri" pitchFamily="34" charset="0"/>
                <a:ea typeface="Calibri" pitchFamily="34" charset="-122"/>
                <a:cs typeface="Calibri" pitchFamily="34" charset="-120"/>
              </a:rPr>
              <a:t>(fija, 1-10 usuarios)</a:t>
            </a:r>
            <a:endParaRPr lang="en-US" sz="1200" dirty="0"/>
          </a:p>
        </p:txBody>
      </p:sp>
      <p:sp>
        <p:nvSpPr>
          <p:cNvPr id="9" name="Shape 6"/>
          <p:cNvSpPr/>
          <p:nvPr/>
        </p:nvSpPr>
        <p:spPr>
          <a:xfrm>
            <a:off x="3410712" y="1645920"/>
            <a:ext cx="2606040" cy="2240280"/>
          </a:xfrm>
          <a:prstGeom prst="roundRect">
            <a:avLst>
              <a:gd name="adj" fmla="val 4082"/>
            </a:avLst>
          </a:prstGeom>
          <a:solidFill>
            <a:schemeClr val="bg2"/>
          </a:solidFill>
          <a:ln/>
          <a:effectLst>
            <a:outerShdw blurRad="101600" dist="38100" dir="5400000" algn="bl" rotWithShape="0">
              <a:srgbClr val="1B2B45">
                <a:alpha val="18000"/>
              </a:srgbClr>
            </a:outerShdw>
          </a:effectLst>
        </p:spPr>
      </p:sp>
      <p:sp>
        <p:nvSpPr>
          <p:cNvPr id="10" name="Shape 7"/>
          <p:cNvSpPr/>
          <p:nvPr/>
        </p:nvSpPr>
        <p:spPr>
          <a:xfrm>
            <a:off x="4366260" y="1901952"/>
            <a:ext cx="694944" cy="694944"/>
          </a:xfrm>
          <a:prstGeom prst="ellipse">
            <a:avLst/>
          </a:prstGeom>
          <a:solidFill>
            <a:schemeClr val="accent3"/>
          </a:solidFill>
          <a:ln/>
        </p:spPr>
      </p:sp>
      <p:pic>
        <p:nvPicPr>
          <p:cNvPr id="11" name="Image 1" descr="preencoded.png"/>
          <p:cNvPicPr>
            <a:picLocks noChangeAspect="1"/>
          </p:cNvPicPr>
          <p:nvPr/>
        </p:nvPicPr>
        <p:blipFill>
          <a:blip r:embed="rId4"/>
          <a:stretch>
            <a:fillRect/>
          </a:stretch>
        </p:blipFill>
        <p:spPr>
          <a:xfrm>
            <a:off x="4546945" y="2082637"/>
            <a:ext cx="333573" cy="333573"/>
          </a:xfrm>
          <a:prstGeom prst="rect">
            <a:avLst/>
          </a:prstGeom>
        </p:spPr>
      </p:pic>
      <p:sp>
        <p:nvSpPr>
          <p:cNvPr id="12" name="Text 8"/>
          <p:cNvSpPr txBox="1"/>
          <p:nvPr/>
        </p:nvSpPr>
        <p:spPr>
          <a:xfrm>
            <a:off x="3547872" y="2724912"/>
            <a:ext cx="2331720" cy="45720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0,70-32 €</a:t>
            </a:r>
            <a:endParaRPr lang="en-US" sz="2200" dirty="0"/>
          </a:p>
        </p:txBody>
      </p:sp>
      <p:sp>
        <p:nvSpPr>
          <p:cNvPr id="13" name="Text 9"/>
          <p:cNvSpPr txBox="1"/>
          <p:nvPr/>
        </p:nvSpPr>
        <p:spPr>
          <a:xfrm>
            <a:off x="3547872" y="3218688"/>
            <a:ext cx="2331720" cy="594360"/>
          </a:xfrm>
          <a:prstGeom prst="rect">
            <a:avLst/>
          </a:prstGeom>
          <a:noFill/>
          <a:ln/>
        </p:spPr>
        <p:txBody>
          <a:bodyPr wrap="square" lIns="0" tIns="0" rIns="0" bIns="0" rtlCol="0" anchor="ctr"/>
          <a:lstStyle/>
          <a:p>
            <a:pPr marL="0" indent="0" algn="ctr">
              <a:buNone/>
            </a:pPr>
            <a:r>
              <a:rPr lang="en-US" sz="1200" dirty="0">
                <a:solidFill>
                  <a:schemeClr val="accent5"/>
                </a:solidFill>
                <a:latin typeface="Calibri" pitchFamily="34" charset="0"/>
                <a:ea typeface="Calibri" pitchFamily="34" charset="-122"/>
                <a:cs typeface="Calibri" pitchFamily="34" charset="-120"/>
              </a:rPr>
              <a:t>LLM · GPT-4.1</a:t>
            </a:r>
            <a:endParaRPr lang="en-US" sz="1200" dirty="0"/>
          </a:p>
          <a:p>
            <a:pPr marL="0" indent="0" algn="ctr">
              <a:buNone/>
            </a:pPr>
            <a:r>
              <a:rPr lang="en-US" sz="1200" dirty="0">
                <a:solidFill>
                  <a:schemeClr val="accent5"/>
                </a:solidFill>
                <a:latin typeface="Calibri" pitchFamily="34" charset="0"/>
                <a:ea typeface="Calibri" pitchFamily="34" charset="-122"/>
                <a:cs typeface="Calibri" pitchFamily="34" charset="-120"/>
              </a:rPr>
              <a:t>(escala con el uso)</a:t>
            </a:r>
            <a:endParaRPr lang="en-US" sz="1200" dirty="0"/>
          </a:p>
        </p:txBody>
      </p:sp>
      <p:sp>
        <p:nvSpPr>
          <p:cNvPr id="14" name="Shape 10"/>
          <p:cNvSpPr/>
          <p:nvPr/>
        </p:nvSpPr>
        <p:spPr>
          <a:xfrm>
            <a:off x="6272784" y="1645920"/>
            <a:ext cx="2606040" cy="2240280"/>
          </a:xfrm>
          <a:prstGeom prst="roundRect">
            <a:avLst>
              <a:gd name="adj" fmla="val 4082"/>
            </a:avLst>
          </a:prstGeom>
          <a:solidFill>
            <a:schemeClr val="bg2"/>
          </a:solidFill>
          <a:ln/>
          <a:effectLst>
            <a:outerShdw blurRad="101600" dist="38100" dir="5400000" algn="bl" rotWithShape="0">
              <a:srgbClr val="1B2B45">
                <a:alpha val="18000"/>
              </a:srgbClr>
            </a:outerShdw>
          </a:effectLst>
        </p:spPr>
      </p:sp>
      <p:sp>
        <p:nvSpPr>
          <p:cNvPr id="15" name="Shape 11"/>
          <p:cNvSpPr/>
          <p:nvPr/>
        </p:nvSpPr>
        <p:spPr>
          <a:xfrm>
            <a:off x="7228332" y="1901952"/>
            <a:ext cx="694944" cy="694944"/>
          </a:xfrm>
          <a:prstGeom prst="ellipse">
            <a:avLst/>
          </a:prstGeom>
          <a:solidFill>
            <a:schemeClr val="accent2"/>
          </a:solidFill>
          <a:ln/>
        </p:spPr>
      </p:sp>
      <p:pic>
        <p:nvPicPr>
          <p:cNvPr id="16" name="Image 2" descr="preencoded.png"/>
          <p:cNvPicPr>
            <a:picLocks noChangeAspect="1"/>
          </p:cNvPicPr>
          <p:nvPr/>
        </p:nvPicPr>
        <p:blipFill>
          <a:blip r:embed="rId5"/>
          <a:stretch>
            <a:fillRect/>
          </a:stretch>
        </p:blipFill>
        <p:spPr>
          <a:xfrm>
            <a:off x="7409017" y="2082637"/>
            <a:ext cx="333573" cy="333573"/>
          </a:xfrm>
          <a:prstGeom prst="rect">
            <a:avLst/>
          </a:prstGeom>
        </p:spPr>
      </p:pic>
      <p:sp>
        <p:nvSpPr>
          <p:cNvPr id="17" name="Text 12"/>
          <p:cNvSpPr txBox="1"/>
          <p:nvPr/>
        </p:nvSpPr>
        <p:spPr>
          <a:xfrm>
            <a:off x="6409944" y="2724912"/>
            <a:ext cx="2331720" cy="45720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0-19 €</a:t>
            </a:r>
            <a:endParaRPr lang="en-US" sz="2200" dirty="0"/>
          </a:p>
        </p:txBody>
      </p:sp>
      <p:sp>
        <p:nvSpPr>
          <p:cNvPr id="18" name="Text 13"/>
          <p:cNvSpPr txBox="1"/>
          <p:nvPr/>
        </p:nvSpPr>
        <p:spPr>
          <a:xfrm>
            <a:off x="6409944" y="3218688"/>
            <a:ext cx="2331720" cy="594360"/>
          </a:xfrm>
          <a:prstGeom prst="rect">
            <a:avLst/>
          </a:prstGeom>
          <a:noFill/>
          <a:ln/>
        </p:spPr>
        <p:txBody>
          <a:bodyPr wrap="square" lIns="0" tIns="0" rIns="0" bIns="0" rtlCol="0" anchor="ctr"/>
          <a:lstStyle/>
          <a:p>
            <a:pPr marL="0" indent="0" algn="ctr">
              <a:buNone/>
            </a:pPr>
            <a:r>
              <a:rPr lang="en-US" sz="1200" dirty="0">
                <a:solidFill>
                  <a:schemeClr val="accent5"/>
                </a:solidFill>
                <a:latin typeface="Calibri" pitchFamily="34" charset="0"/>
                <a:ea typeface="Calibri" pitchFamily="34" charset="-122"/>
                <a:cs typeface="Calibri" pitchFamily="34" charset="-120"/>
              </a:rPr>
              <a:t>Voz · ElevenLabs</a:t>
            </a:r>
            <a:endParaRPr lang="en-US" sz="1200" dirty="0"/>
          </a:p>
          <a:p>
            <a:pPr marL="0" indent="0" algn="ctr">
              <a:buNone/>
            </a:pPr>
            <a:r>
              <a:rPr lang="en-US" sz="1200" dirty="0">
                <a:solidFill>
                  <a:schemeClr val="accent5"/>
                </a:solidFill>
                <a:latin typeface="Calibri" pitchFamily="34" charset="0"/>
                <a:ea typeface="Calibri" pitchFamily="34" charset="-122"/>
                <a:cs typeface="Calibri" pitchFamily="34" charset="-120"/>
              </a:rPr>
              <a:t>(solo perfiles con audio)</a:t>
            </a:r>
            <a:endParaRPr lang="en-US" sz="1200" dirty="0"/>
          </a:p>
        </p:txBody>
      </p:sp>
      <p:sp>
        <p:nvSpPr>
          <p:cNvPr id="19" name="Shape 14"/>
          <p:cNvSpPr/>
          <p:nvPr/>
        </p:nvSpPr>
        <p:spPr>
          <a:xfrm>
            <a:off x="9134856" y="1645920"/>
            <a:ext cx="2606040" cy="2240280"/>
          </a:xfrm>
          <a:prstGeom prst="roundRect">
            <a:avLst>
              <a:gd name="adj" fmla="val 4082"/>
            </a:avLst>
          </a:prstGeom>
          <a:solidFill>
            <a:schemeClr val="bg2"/>
          </a:solidFill>
          <a:ln/>
          <a:effectLst>
            <a:outerShdw blurRad="101600" dist="38100" dir="5400000" algn="bl" rotWithShape="0">
              <a:srgbClr val="1B2B45">
                <a:alpha val="18000"/>
              </a:srgbClr>
            </a:outerShdw>
          </a:effectLst>
        </p:spPr>
      </p:sp>
      <p:sp>
        <p:nvSpPr>
          <p:cNvPr id="20" name="Shape 15"/>
          <p:cNvSpPr/>
          <p:nvPr/>
        </p:nvSpPr>
        <p:spPr>
          <a:xfrm>
            <a:off x="10090404" y="1901952"/>
            <a:ext cx="694944" cy="694944"/>
          </a:xfrm>
          <a:prstGeom prst="ellipse">
            <a:avLst/>
          </a:prstGeom>
          <a:solidFill>
            <a:schemeClr val="accent5"/>
          </a:solidFill>
          <a:ln/>
        </p:spPr>
      </p:sp>
      <p:pic>
        <p:nvPicPr>
          <p:cNvPr id="21" name="Image 3" descr="preencoded.png"/>
          <p:cNvPicPr>
            <a:picLocks noChangeAspect="1"/>
          </p:cNvPicPr>
          <p:nvPr/>
        </p:nvPicPr>
        <p:blipFill>
          <a:blip r:embed="rId6"/>
          <a:stretch>
            <a:fillRect/>
          </a:stretch>
        </p:blipFill>
        <p:spPr>
          <a:xfrm>
            <a:off x="10271089" y="2082637"/>
            <a:ext cx="333573" cy="333573"/>
          </a:xfrm>
          <a:prstGeom prst="rect">
            <a:avLst/>
          </a:prstGeom>
        </p:spPr>
      </p:pic>
      <p:sp>
        <p:nvSpPr>
          <p:cNvPr id="22" name="Text 16"/>
          <p:cNvSpPr txBox="1"/>
          <p:nvPr/>
        </p:nvSpPr>
        <p:spPr>
          <a:xfrm>
            <a:off x="9272016" y="2724912"/>
            <a:ext cx="2331720" cy="457200"/>
          </a:xfrm>
          <a:prstGeom prst="rect">
            <a:avLst/>
          </a:prstGeom>
          <a:noFill/>
          <a:ln/>
        </p:spPr>
        <p:txBody>
          <a:bodyPr wrap="square" lIns="0" tIns="0" rIns="0" bIns="0" rtlCol="0" anchor="ctr"/>
          <a:lstStyle/>
          <a:p>
            <a:pPr marL="0" indent="0" algn="ctr">
              <a:buNone/>
            </a:pPr>
            <a:r>
              <a:rPr lang="en-US" sz="2200" b="1" dirty="0">
                <a:solidFill>
                  <a:schemeClr val="tx1"/>
                </a:solidFill>
                <a:latin typeface="Cambria" pitchFamily="34" charset="0"/>
                <a:ea typeface="Cambria" pitchFamily="34" charset="-122"/>
                <a:cs typeface="Cambria" pitchFamily="34" charset="-120"/>
              </a:rPr>
              <a:t>73-123 €</a:t>
            </a:r>
            <a:endParaRPr lang="en-US" sz="2200" dirty="0"/>
          </a:p>
        </p:txBody>
      </p:sp>
      <p:sp>
        <p:nvSpPr>
          <p:cNvPr id="23" name="Text 17"/>
          <p:cNvSpPr txBox="1"/>
          <p:nvPr/>
        </p:nvSpPr>
        <p:spPr>
          <a:xfrm>
            <a:off x="9272016" y="3218688"/>
            <a:ext cx="2331720" cy="594360"/>
          </a:xfrm>
          <a:prstGeom prst="rect">
            <a:avLst/>
          </a:prstGeom>
          <a:noFill/>
          <a:ln/>
        </p:spPr>
        <p:txBody>
          <a:bodyPr wrap="square" lIns="0" tIns="0" rIns="0" bIns="0" rtlCol="0" anchor="ctr"/>
          <a:lstStyle/>
          <a:p>
            <a:pPr marL="0" indent="0" algn="ctr">
              <a:buNone/>
            </a:pPr>
            <a:r>
              <a:rPr lang="en-US" sz="1200" dirty="0">
                <a:solidFill>
                  <a:schemeClr val="accent5"/>
                </a:solidFill>
                <a:latin typeface="Calibri" pitchFamily="34" charset="0"/>
                <a:ea typeface="Calibri" pitchFamily="34" charset="-122"/>
                <a:cs typeface="Calibri" pitchFamily="34" charset="-120"/>
              </a:rPr>
              <a:t>Total estimado</a:t>
            </a:r>
            <a:endParaRPr lang="en-US" sz="1200" dirty="0"/>
          </a:p>
          <a:p>
            <a:pPr marL="0" indent="0" algn="ctr">
              <a:buNone/>
            </a:pPr>
            <a:r>
              <a:rPr lang="en-US" sz="1200" dirty="0">
                <a:solidFill>
                  <a:schemeClr val="accent5"/>
                </a:solidFill>
                <a:latin typeface="Calibri" pitchFamily="34" charset="0"/>
                <a:ea typeface="Calibri" pitchFamily="34" charset="-122"/>
                <a:cs typeface="Calibri" pitchFamily="34" charset="-120"/>
              </a:rPr>
              <a:t>1 a 10 usuarios</a:t>
            </a:r>
            <a:endParaRPr lang="en-US" sz="1200" dirty="0"/>
          </a:p>
        </p:txBody>
      </p:sp>
      <p:sp>
        <p:nvSpPr>
          <p:cNvPr id="24" name="Text 18"/>
          <p:cNvSpPr txBox="1"/>
          <p:nvPr/>
        </p:nvSpPr>
        <p:spPr>
          <a:xfrm>
            <a:off x="548640" y="4069080"/>
            <a:ext cx="11064240" cy="640080"/>
          </a:xfrm>
          <a:prstGeom prst="rect">
            <a:avLst/>
          </a:prstGeom>
          <a:noFill/>
          <a:ln/>
        </p:spPr>
        <p:txBody>
          <a:bodyPr wrap="square" lIns="0" tIns="0" rIns="0" bIns="0" rtlCol="0" anchor="t"/>
          <a:lstStyle/>
          <a:p>
            <a:pPr marL="0" indent="0">
              <a:buNone/>
            </a:pPr>
            <a:r>
              <a:rPr lang="en-US" sz="1450" b="1" dirty="0">
                <a:solidFill>
                  <a:schemeClr val="accent1"/>
                </a:solidFill>
                <a:latin typeface="Calibri" pitchFamily="34" charset="0"/>
                <a:ea typeface="Calibri" pitchFamily="34" charset="-122"/>
                <a:cs typeface="Calibri" pitchFamily="34" charset="-120"/>
              </a:rPr>
              <a:t>Lectura clave: </a:t>
            </a:r>
            <a:r>
              <a:rPr lang="en-US" sz="1450" dirty="0">
                <a:solidFill>
                  <a:schemeClr val="tx1"/>
                </a:solidFill>
                <a:latin typeface="Calibri" pitchFamily="34" charset="0"/>
                <a:ea typeface="Calibri" pitchFamily="34" charset="-122"/>
                <a:cs typeface="Calibri" pitchFamily="34" charset="-120"/>
              </a:rPr>
              <a:t>la infraestructura de Azure (72 €/mes) apenas varía entre 1 y 10 usuarios — es el mismo Container App y la misma base de datos. Lo que escala con la adopción es el LLM y, sobre todo, la voz.</a:t>
            </a:r>
            <a:endParaRPr lang="en-US" sz="1450" dirty="0"/>
          </a:p>
        </p:txBody>
      </p:sp>
      <p:sp>
        <p:nvSpPr>
          <p:cNvPr id="25" name="Shape 19"/>
          <p:cNvSpPr/>
          <p:nvPr/>
        </p:nvSpPr>
        <p:spPr>
          <a:xfrm>
            <a:off x="594360" y="4974336"/>
            <a:ext cx="91440" cy="91440"/>
          </a:xfrm>
          <a:prstGeom prst="ellipse">
            <a:avLst/>
          </a:prstGeom>
          <a:solidFill>
            <a:schemeClr val="accent2"/>
          </a:solidFill>
          <a:ln/>
        </p:spPr>
      </p:sp>
      <p:sp>
        <p:nvSpPr>
          <p:cNvPr id="26" name="Text 20"/>
          <p:cNvSpPr txBox="1"/>
          <p:nvPr/>
        </p:nvSpPr>
        <p:spPr>
          <a:xfrm>
            <a:off x="868680" y="4818888"/>
            <a:ext cx="10607040" cy="320040"/>
          </a:xfrm>
          <a:prstGeom prst="rect">
            <a:avLst/>
          </a:prstGeom>
          <a:noFill/>
          <a:ln/>
        </p:spPr>
        <p:txBody>
          <a:bodyPr wrap="square" lIns="0" tIns="0" rIns="0" bIns="0" rtlCol="0" anchor="ctr"/>
          <a:lstStyle/>
          <a:p>
            <a:pPr marL="0" indent="0">
              <a:buNone/>
            </a:pPr>
            <a:r>
              <a:rPr lang="en-US" sz="1300" dirty="0">
                <a:solidFill>
                  <a:schemeClr val="accent5"/>
                </a:solidFill>
                <a:latin typeface="Calibri" pitchFamily="34" charset="0"/>
                <a:ea typeface="Calibri" pitchFamily="34" charset="-122"/>
                <a:cs typeface="Calibri" pitchFamily="34" charset="-120"/>
              </a:rPr>
              <a:t>9 servicios de Azure realmente desplegados vía Infrastructure-as-Code (infra/main.bicep)</a:t>
            </a:r>
            <a:endParaRPr lang="en-US" sz="1300" dirty="0"/>
          </a:p>
        </p:txBody>
      </p:sp>
      <p:sp>
        <p:nvSpPr>
          <p:cNvPr id="27" name="Shape 21"/>
          <p:cNvSpPr/>
          <p:nvPr/>
        </p:nvSpPr>
        <p:spPr>
          <a:xfrm>
            <a:off x="594360" y="5321808"/>
            <a:ext cx="91440" cy="91440"/>
          </a:xfrm>
          <a:prstGeom prst="ellipse">
            <a:avLst/>
          </a:prstGeom>
          <a:solidFill>
            <a:schemeClr val="accent2"/>
          </a:solidFill>
          <a:ln/>
        </p:spPr>
      </p:sp>
      <p:sp>
        <p:nvSpPr>
          <p:cNvPr id="28" name="Text 22"/>
          <p:cNvSpPr txBox="1"/>
          <p:nvPr/>
        </p:nvSpPr>
        <p:spPr>
          <a:xfrm>
            <a:off x="868680" y="5166360"/>
            <a:ext cx="10607040" cy="320040"/>
          </a:xfrm>
          <a:prstGeom prst="rect">
            <a:avLst/>
          </a:prstGeom>
          <a:noFill/>
          <a:ln/>
        </p:spPr>
        <p:txBody>
          <a:bodyPr wrap="square" lIns="0" tIns="0" rIns="0" bIns="0" rtlCol="0" anchor="ctr"/>
          <a:lstStyle/>
          <a:p>
            <a:pPr marL="0" indent="0">
              <a:buNone/>
            </a:pPr>
            <a:r>
              <a:rPr lang="en-US" sz="1300" dirty="0">
                <a:solidFill>
                  <a:schemeClr val="accent5"/>
                </a:solidFill>
                <a:latin typeface="Calibri" pitchFamily="34" charset="0"/>
                <a:ea typeface="Calibri" pitchFamily="34" charset="-122"/>
                <a:cs typeface="Calibri" pitchFamily="34" charset="-120"/>
              </a:rPr>
              <a:t>GPT-4.1 facturado por tokens de entrada/salida en Azure OpenAI (Global Standard)</a:t>
            </a:r>
            <a:endParaRPr lang="en-US" sz="1300" dirty="0"/>
          </a:p>
        </p:txBody>
      </p:sp>
      <p:sp>
        <p:nvSpPr>
          <p:cNvPr id="29" name="Shape 23"/>
          <p:cNvSpPr/>
          <p:nvPr/>
        </p:nvSpPr>
        <p:spPr>
          <a:xfrm>
            <a:off x="594360" y="5669280"/>
            <a:ext cx="91440" cy="91440"/>
          </a:xfrm>
          <a:prstGeom prst="ellipse">
            <a:avLst/>
          </a:prstGeom>
          <a:solidFill>
            <a:schemeClr val="accent2"/>
          </a:solidFill>
          <a:ln/>
        </p:spPr>
      </p:sp>
      <p:sp>
        <p:nvSpPr>
          <p:cNvPr id="30" name="Text 24"/>
          <p:cNvSpPr txBox="1"/>
          <p:nvPr/>
        </p:nvSpPr>
        <p:spPr>
          <a:xfrm>
            <a:off x="868680" y="5513832"/>
            <a:ext cx="10607040" cy="320040"/>
          </a:xfrm>
          <a:prstGeom prst="rect">
            <a:avLst/>
          </a:prstGeom>
          <a:noFill/>
          <a:ln/>
        </p:spPr>
        <p:txBody>
          <a:bodyPr wrap="square" lIns="0" tIns="0" rIns="0" bIns="0" rtlCol="0" anchor="ctr"/>
          <a:lstStyle/>
          <a:p>
            <a:pPr marL="0" indent="0">
              <a:buNone/>
            </a:pPr>
            <a:r>
              <a:rPr lang="en-US" sz="1300" dirty="0">
                <a:solidFill>
                  <a:schemeClr val="accent5"/>
                </a:solidFill>
                <a:latin typeface="Calibri" pitchFamily="34" charset="0"/>
                <a:ea typeface="Calibri" pitchFamily="34" charset="-122"/>
                <a:cs typeface="Calibri" pitchFamily="34" charset="-120"/>
              </a:rPr>
              <a:t>ElevenLabs facturado por caracteres sintetizados (modelo Flash v2.5, pago por uso)</a:t>
            </a:r>
            <a:endParaRPr lang="en-US" sz="1300" dirty="0"/>
          </a:p>
        </p:txBody>
      </p:sp>
      <p:sp>
        <p:nvSpPr>
          <p:cNvPr id="31" name="Shape 25"/>
          <p:cNvSpPr/>
          <p:nvPr/>
        </p:nvSpPr>
        <p:spPr>
          <a:xfrm>
            <a:off x="594360" y="6016752"/>
            <a:ext cx="91440" cy="91440"/>
          </a:xfrm>
          <a:prstGeom prst="ellipse">
            <a:avLst/>
          </a:prstGeom>
          <a:solidFill>
            <a:schemeClr val="accent2"/>
          </a:solidFill>
          <a:ln/>
        </p:spPr>
      </p:sp>
      <p:sp>
        <p:nvSpPr>
          <p:cNvPr id="32" name="Text 26"/>
          <p:cNvSpPr txBox="1"/>
          <p:nvPr/>
        </p:nvSpPr>
        <p:spPr>
          <a:xfrm>
            <a:off x="868680" y="5861304"/>
            <a:ext cx="10607040" cy="320040"/>
          </a:xfrm>
          <a:prstGeom prst="rect">
            <a:avLst/>
          </a:prstGeom>
          <a:noFill/>
          <a:ln/>
        </p:spPr>
        <p:txBody>
          <a:bodyPr wrap="square" lIns="0" tIns="0" rIns="0" bIns="0" rtlCol="0" anchor="ctr"/>
          <a:lstStyle/>
          <a:p>
            <a:pPr marL="0" indent="0">
              <a:buNone/>
            </a:pPr>
            <a:r>
              <a:rPr lang="en-US" sz="1300" dirty="0">
                <a:solidFill>
                  <a:schemeClr val="accent5"/>
                </a:solidFill>
                <a:latin typeface="Calibri" pitchFamily="34" charset="0"/>
                <a:ea typeface="Calibri" pitchFamily="34" charset="-122"/>
                <a:cs typeface="Calibri" pitchFamily="34" charset="-120"/>
              </a:rPr>
              <a:t>Azure AI Search y Azure Machine Learning: planificados, sin código ni coste real hoy (ver lámina dedicada)</a:t>
            </a:r>
            <a:endParaRPr lang="en-US" sz="1300" dirty="0"/>
          </a:p>
        </p:txBody>
      </p:sp>
      <p:sp>
        <p:nvSpPr>
          <p:cNvPr id="33" name="Text 27"/>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000" dirty="0">
                <a:solidFill>
                  <a:schemeClr val="accent6"/>
                </a:solidFill>
                <a:latin typeface="Calibri" pitchFamily="34" charset="0"/>
                <a:ea typeface="Calibri" pitchFamily="34" charset="-122"/>
                <a:cs typeface="Calibri" pitchFamily="34" charset="-120"/>
              </a:rPr>
              <a:t>mIA · Estimación de costes en Azure (producción)</a:t>
            </a:r>
            <a:endParaRPr lang="en-US" sz="1000" dirty="0"/>
          </a:p>
        </p:txBody>
      </p:sp>
      <p:sp>
        <p:nvSpPr>
          <p:cNvPr id="34" name="Text 2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1000" dirty="0">
                <a:solidFill>
                  <a:schemeClr val="accent6"/>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300" b="1" kern="0" spc="150" dirty="0">
                <a:solidFill>
                  <a:schemeClr val="accent1"/>
                </a:solidFill>
                <a:latin typeface="Calibri" pitchFamily="34" charset="0"/>
                <a:ea typeface="Calibri" pitchFamily="34" charset="-122"/>
                <a:cs typeface="Calibri" pitchFamily="34" charset="-120"/>
              </a:rPr>
              <a:t>SERVICIOS DE AZURE · 1 DE 2</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Cómputo y base de datos</a:t>
            </a:r>
            <a:endParaRPr lang="en-US" sz="2800" dirty="0"/>
          </a:p>
        </p:txBody>
      </p:sp>
      <p:sp>
        <p:nvSpPr>
          <p:cNvPr id="4" name="Shape 2"/>
          <p:cNvSpPr/>
          <p:nvPr/>
        </p:nvSpPr>
        <p:spPr>
          <a:xfrm>
            <a:off x="548640" y="1645920"/>
            <a:ext cx="11064240" cy="896112"/>
          </a:xfrm>
          <a:prstGeom prst="roundRect">
            <a:avLst>
              <a:gd name="adj" fmla="val 8163"/>
            </a:avLst>
          </a:prstGeom>
          <a:solidFill>
            <a:schemeClr val="bg2"/>
          </a:solidFill>
          <a:ln/>
        </p:spPr>
      </p:sp>
      <p:sp>
        <p:nvSpPr>
          <p:cNvPr id="5" name="Shape 3"/>
          <p:cNvSpPr/>
          <p:nvPr/>
        </p:nvSpPr>
        <p:spPr>
          <a:xfrm>
            <a:off x="777240" y="1773936"/>
            <a:ext cx="640080" cy="640080"/>
          </a:xfrm>
          <a:prstGeom prst="ellipse">
            <a:avLst/>
          </a:prstGeom>
          <a:solidFill>
            <a:schemeClr val="accent1"/>
          </a:solidFill>
          <a:ln/>
        </p:spPr>
      </p:sp>
      <p:pic>
        <p:nvPicPr>
          <p:cNvPr id="6" name="Image 0" descr="preencoded.png"/>
          <p:cNvPicPr>
            <a:picLocks noChangeAspect="1"/>
          </p:cNvPicPr>
          <p:nvPr/>
        </p:nvPicPr>
        <p:blipFill>
          <a:blip r:embed="rId3"/>
          <a:stretch>
            <a:fillRect/>
          </a:stretch>
        </p:blipFill>
        <p:spPr>
          <a:xfrm>
            <a:off x="943661" y="1940357"/>
            <a:ext cx="307238" cy="307238"/>
          </a:xfrm>
          <a:prstGeom prst="rect">
            <a:avLst/>
          </a:prstGeom>
        </p:spPr>
      </p:pic>
      <p:sp>
        <p:nvSpPr>
          <p:cNvPr id="7" name="Text 4"/>
          <p:cNvSpPr txBox="1"/>
          <p:nvPr/>
        </p:nvSpPr>
        <p:spPr>
          <a:xfrm>
            <a:off x="1645920" y="1719072"/>
            <a:ext cx="6858000" cy="32004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Azure Container Apps — API de mIA</a:t>
            </a:r>
            <a:endParaRPr lang="en-US" sz="1500" dirty="0"/>
          </a:p>
        </p:txBody>
      </p:sp>
      <p:sp>
        <p:nvSpPr>
          <p:cNvPr id="8" name="Text 5"/>
          <p:cNvSpPr txBox="1"/>
          <p:nvPr/>
        </p:nvSpPr>
        <p:spPr>
          <a:xfrm>
            <a:off x="1645920" y="2029968"/>
            <a:ext cx="6858000" cy="475488"/>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Backend FastAPI: orquesta el LLM, los dominios de RRHH y la conversación. 1 réplica mínima activa 24/7 (0,5 vCPU / 1 GiB).</a:t>
            </a:r>
            <a:endParaRPr lang="en-US" sz="1150" dirty="0"/>
          </a:p>
        </p:txBody>
      </p:sp>
      <p:sp>
        <p:nvSpPr>
          <p:cNvPr id="9" name="Text 6"/>
          <p:cNvSpPr txBox="1"/>
          <p:nvPr/>
        </p:nvSpPr>
        <p:spPr>
          <a:xfrm>
            <a:off x="8686800" y="1645920"/>
            <a:ext cx="2697480" cy="896112"/>
          </a:xfrm>
          <a:prstGeom prst="rect">
            <a:avLst/>
          </a:prstGeom>
          <a:noFill/>
          <a:ln/>
        </p:spPr>
        <p:txBody>
          <a:bodyPr wrap="square" lIns="0" tIns="0" rIns="0" bIns="0" rtlCol="0" anchor="ctr"/>
          <a:lstStyle/>
          <a:p>
            <a:pPr marL="0" indent="0" algn="r">
              <a:buNone/>
            </a:pPr>
            <a:r>
              <a:rPr lang="en-US" sz="1700" b="1" dirty="0">
                <a:solidFill>
                  <a:schemeClr val="accent1"/>
                </a:solidFill>
                <a:latin typeface="Cambria" pitchFamily="34" charset="0"/>
                <a:ea typeface="Cambria" pitchFamily="34" charset="-122"/>
                <a:cs typeface="Cambria" pitchFamily="34" charset="-120"/>
              </a:rPr>
              <a:t>42 €/mes</a:t>
            </a:r>
            <a:endParaRPr lang="en-US" sz="1700" dirty="0"/>
          </a:p>
        </p:txBody>
      </p:sp>
      <p:sp>
        <p:nvSpPr>
          <p:cNvPr id="10" name="Shape 7"/>
          <p:cNvSpPr/>
          <p:nvPr/>
        </p:nvSpPr>
        <p:spPr>
          <a:xfrm>
            <a:off x="548640" y="2670048"/>
            <a:ext cx="11064240" cy="896112"/>
          </a:xfrm>
          <a:prstGeom prst="roundRect">
            <a:avLst>
              <a:gd name="adj" fmla="val 8163"/>
            </a:avLst>
          </a:prstGeom>
          <a:solidFill>
            <a:schemeClr val="bg2"/>
          </a:solidFill>
          <a:ln/>
        </p:spPr>
      </p:sp>
      <p:sp>
        <p:nvSpPr>
          <p:cNvPr id="11" name="Shape 8"/>
          <p:cNvSpPr/>
          <p:nvPr/>
        </p:nvSpPr>
        <p:spPr>
          <a:xfrm>
            <a:off x="777240" y="2798064"/>
            <a:ext cx="640080" cy="640080"/>
          </a:xfrm>
          <a:prstGeom prst="ellipse">
            <a:avLst/>
          </a:prstGeom>
          <a:solidFill>
            <a:schemeClr val="accent3"/>
          </a:solidFill>
          <a:ln/>
        </p:spPr>
      </p:sp>
      <p:pic>
        <p:nvPicPr>
          <p:cNvPr id="12" name="Image 1" descr="preencoded.png"/>
          <p:cNvPicPr>
            <a:picLocks noChangeAspect="1"/>
          </p:cNvPicPr>
          <p:nvPr/>
        </p:nvPicPr>
        <p:blipFill>
          <a:blip r:embed="rId4"/>
          <a:stretch>
            <a:fillRect/>
          </a:stretch>
        </p:blipFill>
        <p:spPr>
          <a:xfrm>
            <a:off x="943661" y="2964485"/>
            <a:ext cx="307238" cy="307238"/>
          </a:xfrm>
          <a:prstGeom prst="rect">
            <a:avLst/>
          </a:prstGeom>
        </p:spPr>
      </p:pic>
      <p:sp>
        <p:nvSpPr>
          <p:cNvPr id="13" name="Text 9"/>
          <p:cNvSpPr txBox="1"/>
          <p:nvPr/>
        </p:nvSpPr>
        <p:spPr>
          <a:xfrm>
            <a:off x="1645920" y="2743200"/>
            <a:ext cx="6858000" cy="32004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Container Apps Jobs — Sincronización</a:t>
            </a:r>
            <a:endParaRPr lang="en-US" sz="1500" dirty="0"/>
          </a:p>
        </p:txBody>
      </p:sp>
      <p:sp>
        <p:nvSpPr>
          <p:cNvPr id="14" name="Text 10"/>
          <p:cNvSpPr txBox="1"/>
          <p:nvPr/>
        </p:nvSpPr>
        <p:spPr>
          <a:xfrm>
            <a:off x="1645920" y="3054096"/>
            <a:ext cx="6858000" cy="475488"/>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Trabajo programado que trae datos de SharePoint (empleados, nóminas, documentos) a PostgreSQL cada 10 minutos.</a:t>
            </a:r>
            <a:endParaRPr lang="en-US" sz="1150" dirty="0"/>
          </a:p>
        </p:txBody>
      </p:sp>
      <p:sp>
        <p:nvSpPr>
          <p:cNvPr id="15" name="Text 11"/>
          <p:cNvSpPr txBox="1"/>
          <p:nvPr/>
        </p:nvSpPr>
        <p:spPr>
          <a:xfrm>
            <a:off x="8686800" y="2670048"/>
            <a:ext cx="2697480" cy="896112"/>
          </a:xfrm>
          <a:prstGeom prst="rect">
            <a:avLst/>
          </a:prstGeom>
          <a:noFill/>
          <a:ln/>
        </p:spPr>
        <p:txBody>
          <a:bodyPr wrap="square" lIns="0" tIns="0" rIns="0" bIns="0" rtlCol="0" anchor="ctr"/>
          <a:lstStyle/>
          <a:p>
            <a:pPr marL="0" indent="0" algn="r">
              <a:buNone/>
            </a:pPr>
            <a:r>
              <a:rPr lang="en-US" sz="1700" b="1" dirty="0">
                <a:solidFill>
                  <a:schemeClr val="accent3"/>
                </a:solidFill>
                <a:latin typeface="Cambria" pitchFamily="34" charset="0"/>
                <a:ea typeface="Cambria" pitchFamily="34" charset="-122"/>
                <a:cs typeface="Cambria" pitchFamily="34" charset="-120"/>
              </a:rPr>
              <a:t>5 €/mes</a:t>
            </a:r>
            <a:endParaRPr lang="en-US" sz="1700" dirty="0"/>
          </a:p>
        </p:txBody>
      </p:sp>
      <p:sp>
        <p:nvSpPr>
          <p:cNvPr id="16" name="Shape 12"/>
          <p:cNvSpPr/>
          <p:nvPr/>
        </p:nvSpPr>
        <p:spPr>
          <a:xfrm>
            <a:off x="548640" y="3694176"/>
            <a:ext cx="11064240" cy="896112"/>
          </a:xfrm>
          <a:prstGeom prst="roundRect">
            <a:avLst>
              <a:gd name="adj" fmla="val 8163"/>
            </a:avLst>
          </a:prstGeom>
          <a:solidFill>
            <a:schemeClr val="bg2"/>
          </a:solidFill>
          <a:ln/>
        </p:spPr>
      </p:sp>
      <p:sp>
        <p:nvSpPr>
          <p:cNvPr id="17" name="Shape 13"/>
          <p:cNvSpPr/>
          <p:nvPr/>
        </p:nvSpPr>
        <p:spPr>
          <a:xfrm>
            <a:off x="777240" y="3822192"/>
            <a:ext cx="640080" cy="640080"/>
          </a:xfrm>
          <a:prstGeom prst="ellipse">
            <a:avLst/>
          </a:prstGeom>
          <a:solidFill>
            <a:schemeClr val="accent4"/>
          </a:solidFill>
          <a:ln/>
        </p:spPr>
      </p:sp>
      <p:pic>
        <p:nvPicPr>
          <p:cNvPr id="18" name="Image 2" descr="preencoded.png"/>
          <p:cNvPicPr>
            <a:picLocks noChangeAspect="1"/>
          </p:cNvPicPr>
          <p:nvPr/>
        </p:nvPicPr>
        <p:blipFill>
          <a:blip r:embed="rId5"/>
          <a:stretch>
            <a:fillRect/>
          </a:stretch>
        </p:blipFill>
        <p:spPr>
          <a:xfrm>
            <a:off x="943661" y="3988613"/>
            <a:ext cx="307238" cy="307238"/>
          </a:xfrm>
          <a:prstGeom prst="rect">
            <a:avLst/>
          </a:prstGeom>
        </p:spPr>
      </p:pic>
      <p:sp>
        <p:nvSpPr>
          <p:cNvPr id="19" name="Text 14"/>
          <p:cNvSpPr txBox="1"/>
          <p:nvPr/>
        </p:nvSpPr>
        <p:spPr>
          <a:xfrm>
            <a:off x="1645920" y="3767328"/>
            <a:ext cx="6858000" cy="32004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Container Registry (SKU Basic)</a:t>
            </a:r>
            <a:endParaRPr lang="en-US" sz="1500" dirty="0"/>
          </a:p>
        </p:txBody>
      </p:sp>
      <p:sp>
        <p:nvSpPr>
          <p:cNvPr id="20" name="Text 15"/>
          <p:cNvSpPr txBox="1"/>
          <p:nvPr/>
        </p:nvSpPr>
        <p:spPr>
          <a:xfrm>
            <a:off x="1645920" y="4078224"/>
            <a:ext cx="6858000" cy="475488"/>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Almacena la imagen Docker de mIA que despliegan la Container App y el job de sincronización.</a:t>
            </a:r>
            <a:endParaRPr lang="en-US" sz="1150" dirty="0"/>
          </a:p>
        </p:txBody>
      </p:sp>
      <p:sp>
        <p:nvSpPr>
          <p:cNvPr id="21" name="Text 16"/>
          <p:cNvSpPr txBox="1"/>
          <p:nvPr/>
        </p:nvSpPr>
        <p:spPr>
          <a:xfrm>
            <a:off x="8686800" y="3694176"/>
            <a:ext cx="2697480" cy="896112"/>
          </a:xfrm>
          <a:prstGeom prst="rect">
            <a:avLst/>
          </a:prstGeom>
          <a:noFill/>
          <a:ln/>
        </p:spPr>
        <p:txBody>
          <a:bodyPr wrap="square" lIns="0" tIns="0" rIns="0" bIns="0" rtlCol="0" anchor="ctr"/>
          <a:lstStyle/>
          <a:p>
            <a:pPr marL="0" indent="0" algn="r">
              <a:buNone/>
            </a:pPr>
            <a:r>
              <a:rPr lang="en-US" sz="1700" b="1" dirty="0">
                <a:solidFill>
                  <a:schemeClr val="accent4"/>
                </a:solidFill>
                <a:latin typeface="Cambria" pitchFamily="34" charset="0"/>
                <a:ea typeface="Cambria" pitchFamily="34" charset="-122"/>
                <a:cs typeface="Cambria" pitchFamily="34" charset="-120"/>
              </a:rPr>
              <a:t>4 €/mes</a:t>
            </a:r>
            <a:endParaRPr lang="en-US" sz="1700" dirty="0"/>
          </a:p>
        </p:txBody>
      </p:sp>
      <p:sp>
        <p:nvSpPr>
          <p:cNvPr id="22" name="Shape 17"/>
          <p:cNvSpPr/>
          <p:nvPr/>
        </p:nvSpPr>
        <p:spPr>
          <a:xfrm>
            <a:off x="548640" y="4718304"/>
            <a:ext cx="11064240" cy="896112"/>
          </a:xfrm>
          <a:prstGeom prst="roundRect">
            <a:avLst>
              <a:gd name="adj" fmla="val 8163"/>
            </a:avLst>
          </a:prstGeom>
          <a:solidFill>
            <a:schemeClr val="bg2"/>
          </a:solidFill>
          <a:ln/>
        </p:spPr>
      </p:sp>
      <p:sp>
        <p:nvSpPr>
          <p:cNvPr id="23" name="Shape 18"/>
          <p:cNvSpPr/>
          <p:nvPr/>
        </p:nvSpPr>
        <p:spPr>
          <a:xfrm>
            <a:off x="777240" y="4846320"/>
            <a:ext cx="640080" cy="640080"/>
          </a:xfrm>
          <a:prstGeom prst="ellipse">
            <a:avLst/>
          </a:prstGeom>
          <a:solidFill>
            <a:schemeClr val="accent5"/>
          </a:solidFill>
          <a:ln/>
        </p:spPr>
      </p:sp>
      <p:pic>
        <p:nvPicPr>
          <p:cNvPr id="24" name="Image 3" descr="preencoded.png"/>
          <p:cNvPicPr>
            <a:picLocks noChangeAspect="1"/>
          </p:cNvPicPr>
          <p:nvPr/>
        </p:nvPicPr>
        <p:blipFill>
          <a:blip r:embed="rId6"/>
          <a:stretch>
            <a:fillRect/>
          </a:stretch>
        </p:blipFill>
        <p:spPr>
          <a:xfrm>
            <a:off x="943661" y="5012741"/>
            <a:ext cx="307238" cy="307238"/>
          </a:xfrm>
          <a:prstGeom prst="rect">
            <a:avLst/>
          </a:prstGeom>
        </p:spPr>
      </p:pic>
      <p:sp>
        <p:nvSpPr>
          <p:cNvPr id="25" name="Text 19"/>
          <p:cNvSpPr txBox="1"/>
          <p:nvPr/>
        </p:nvSpPr>
        <p:spPr>
          <a:xfrm>
            <a:off x="1645920" y="4791456"/>
            <a:ext cx="6858000" cy="32004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Azure Database for PostgreSQL — Flexible Server</a:t>
            </a:r>
            <a:endParaRPr lang="en-US" sz="1500" dirty="0"/>
          </a:p>
        </p:txBody>
      </p:sp>
      <p:sp>
        <p:nvSpPr>
          <p:cNvPr id="26" name="Text 20"/>
          <p:cNvSpPr txBox="1"/>
          <p:nvPr/>
        </p:nvSpPr>
        <p:spPr>
          <a:xfrm>
            <a:off x="1645920" y="5102352"/>
            <a:ext cx="6858000" cy="475488"/>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Base de datos relacional: datos de RRHH, histórico de conversaciones y embeddings de currículums vía pgvector (B1ms, 32 GB, backup incluido).</a:t>
            </a:r>
            <a:endParaRPr lang="en-US" sz="1150" dirty="0"/>
          </a:p>
        </p:txBody>
      </p:sp>
      <p:sp>
        <p:nvSpPr>
          <p:cNvPr id="27" name="Text 21"/>
          <p:cNvSpPr txBox="1"/>
          <p:nvPr/>
        </p:nvSpPr>
        <p:spPr>
          <a:xfrm>
            <a:off x="8686800" y="4718304"/>
            <a:ext cx="2697480" cy="896112"/>
          </a:xfrm>
          <a:prstGeom prst="rect">
            <a:avLst/>
          </a:prstGeom>
          <a:noFill/>
          <a:ln/>
        </p:spPr>
        <p:txBody>
          <a:bodyPr wrap="square" lIns="0" tIns="0" rIns="0" bIns="0" rtlCol="0" anchor="ctr"/>
          <a:lstStyle/>
          <a:p>
            <a:pPr marL="0" indent="0" algn="r">
              <a:buNone/>
            </a:pPr>
            <a:r>
              <a:rPr lang="en-US" sz="1700" b="1" dirty="0">
                <a:solidFill>
                  <a:schemeClr val="accent5"/>
                </a:solidFill>
                <a:latin typeface="Cambria" pitchFamily="34" charset="0"/>
                <a:ea typeface="Cambria" pitchFamily="34" charset="-122"/>
                <a:cs typeface="Cambria" pitchFamily="34" charset="-120"/>
              </a:rPr>
              <a:t>17 €/mes</a:t>
            </a:r>
            <a:endParaRPr lang="en-US" sz="1700" dirty="0"/>
          </a:p>
        </p:txBody>
      </p:sp>
      <p:sp>
        <p:nvSpPr>
          <p:cNvPr id="28" name="Text 22"/>
          <p:cNvSpPr txBox="1"/>
          <p:nvPr/>
        </p:nvSpPr>
        <p:spPr>
          <a:xfrm>
            <a:off x="548640" y="5852160"/>
            <a:ext cx="11064240" cy="320040"/>
          </a:xfrm>
          <a:prstGeom prst="rect">
            <a:avLst/>
          </a:prstGeom>
          <a:noFill/>
          <a:ln/>
        </p:spPr>
        <p:txBody>
          <a:bodyPr wrap="square" lIns="0" tIns="0" rIns="0" bIns="0" rtlCol="0" anchor="ctr"/>
          <a:lstStyle/>
          <a:p>
            <a:pPr marL="0" indent="0">
              <a:buNone/>
            </a:pPr>
            <a:r>
              <a:rPr lang="en-US" sz="1200" i="1" dirty="0">
                <a:solidFill>
                  <a:schemeClr val="accent1"/>
                </a:solidFill>
                <a:latin typeface="Calibri" pitchFamily="34" charset="0"/>
                <a:ea typeface="Calibri" pitchFamily="34" charset="-122"/>
                <a:cs typeface="Calibri" pitchFamily="34" charset="-120"/>
              </a:rPr>
              <a:t>Subtotal cómputo y datos: 68 €/mes   ·   Tarifas: 0,0000303 €/vCPU-s, 0,00000357 €/GiB-s, 0,1466 €/día (ACR), 0,0175 €/h + 0,1205 €/GB (PostgreSQL) — Azure Retail Prices API, Spain Central</a:t>
            </a:r>
            <a:endParaRPr lang="en-US" sz="1200" dirty="0"/>
          </a:p>
        </p:txBody>
      </p:sp>
      <p:sp>
        <p:nvSpPr>
          <p:cNvPr id="29" name="Text 2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000" dirty="0">
                <a:solidFill>
                  <a:schemeClr val="accent6"/>
                </a:solidFill>
                <a:latin typeface="Calibri" pitchFamily="34" charset="0"/>
                <a:ea typeface="Calibri" pitchFamily="34" charset="-122"/>
                <a:cs typeface="Calibri" pitchFamily="34" charset="-120"/>
              </a:rPr>
              <a:t>mIA · Estimación de costes en Azure (producción)</a:t>
            </a:r>
            <a:endParaRPr lang="en-US" sz="1000" dirty="0"/>
          </a:p>
        </p:txBody>
      </p:sp>
      <p:sp>
        <p:nvSpPr>
          <p:cNvPr id="30" name="Text 2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1000" dirty="0">
                <a:solidFill>
                  <a:schemeClr val="accent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300" b="1" kern="0" spc="150" dirty="0">
                <a:solidFill>
                  <a:schemeClr val="accent1"/>
                </a:solidFill>
                <a:latin typeface="Calibri" pitchFamily="34" charset="0"/>
                <a:ea typeface="Calibri" pitchFamily="34" charset="-122"/>
                <a:cs typeface="Calibri" pitchFamily="34" charset="-120"/>
              </a:rPr>
              <a:t>SERVICIOS DE AZURE · 2 DE 2</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Almacenamiento, seguridad y observabilidad</a:t>
            </a:r>
            <a:endParaRPr lang="en-US" sz="2800" dirty="0"/>
          </a:p>
        </p:txBody>
      </p:sp>
      <p:sp>
        <p:nvSpPr>
          <p:cNvPr id="4" name="Shape 2"/>
          <p:cNvSpPr/>
          <p:nvPr/>
        </p:nvSpPr>
        <p:spPr>
          <a:xfrm>
            <a:off x="548640" y="1645920"/>
            <a:ext cx="11064240" cy="896112"/>
          </a:xfrm>
          <a:prstGeom prst="roundRect">
            <a:avLst>
              <a:gd name="adj" fmla="val 8163"/>
            </a:avLst>
          </a:prstGeom>
          <a:solidFill>
            <a:schemeClr val="bg2"/>
          </a:solidFill>
          <a:ln/>
        </p:spPr>
      </p:sp>
      <p:sp>
        <p:nvSpPr>
          <p:cNvPr id="5" name="Shape 3"/>
          <p:cNvSpPr/>
          <p:nvPr/>
        </p:nvSpPr>
        <p:spPr>
          <a:xfrm>
            <a:off x="777240" y="1773936"/>
            <a:ext cx="640080" cy="640080"/>
          </a:xfrm>
          <a:prstGeom prst="ellipse">
            <a:avLst/>
          </a:prstGeom>
          <a:solidFill>
            <a:schemeClr val="accent1"/>
          </a:solidFill>
          <a:ln/>
        </p:spPr>
      </p:sp>
      <p:pic>
        <p:nvPicPr>
          <p:cNvPr id="6" name="Image 0" descr="preencoded.png"/>
          <p:cNvPicPr>
            <a:picLocks noChangeAspect="1"/>
          </p:cNvPicPr>
          <p:nvPr/>
        </p:nvPicPr>
        <p:blipFill>
          <a:blip r:embed="rId3"/>
          <a:stretch>
            <a:fillRect/>
          </a:stretch>
        </p:blipFill>
        <p:spPr>
          <a:xfrm>
            <a:off x="943661" y="1940357"/>
            <a:ext cx="307238" cy="307238"/>
          </a:xfrm>
          <a:prstGeom prst="rect">
            <a:avLst/>
          </a:prstGeom>
        </p:spPr>
      </p:pic>
      <p:sp>
        <p:nvSpPr>
          <p:cNvPr id="7" name="Text 4"/>
          <p:cNvSpPr txBox="1"/>
          <p:nvPr/>
        </p:nvSpPr>
        <p:spPr>
          <a:xfrm>
            <a:off x="1645920" y="1719072"/>
            <a:ext cx="6858000" cy="32004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Storage Account (Blob, Standard LRS)</a:t>
            </a:r>
            <a:endParaRPr lang="en-US" sz="1500" dirty="0"/>
          </a:p>
        </p:txBody>
      </p:sp>
      <p:sp>
        <p:nvSpPr>
          <p:cNvPr id="8" name="Text 5"/>
          <p:cNvSpPr txBox="1"/>
          <p:nvPr/>
        </p:nvSpPr>
        <p:spPr>
          <a:xfrm>
            <a:off x="1645920" y="2029968"/>
            <a:ext cx="6858000" cy="475488"/>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Guarda los informes generados (PDF/Excel) y adjuntos del Privacy Gateway (≈ 5 GB modelados a 0,0162 €/GB).</a:t>
            </a:r>
            <a:endParaRPr lang="en-US" sz="1150" dirty="0"/>
          </a:p>
        </p:txBody>
      </p:sp>
      <p:sp>
        <p:nvSpPr>
          <p:cNvPr id="9" name="Text 6"/>
          <p:cNvSpPr txBox="1"/>
          <p:nvPr/>
        </p:nvSpPr>
        <p:spPr>
          <a:xfrm>
            <a:off x="8686800" y="1645920"/>
            <a:ext cx="2697480" cy="896112"/>
          </a:xfrm>
          <a:prstGeom prst="rect">
            <a:avLst/>
          </a:prstGeom>
          <a:noFill/>
          <a:ln/>
        </p:spPr>
        <p:txBody>
          <a:bodyPr wrap="square" lIns="0" tIns="0" rIns="0" bIns="0" rtlCol="0" anchor="ctr"/>
          <a:lstStyle/>
          <a:p>
            <a:pPr marL="0" indent="0" algn="r">
              <a:buNone/>
            </a:pPr>
            <a:r>
              <a:rPr lang="en-US" sz="1700" b="1" dirty="0">
                <a:solidFill>
                  <a:schemeClr val="accent1"/>
                </a:solidFill>
                <a:latin typeface="Cambria" pitchFamily="34" charset="0"/>
                <a:ea typeface="Cambria" pitchFamily="34" charset="-122"/>
                <a:cs typeface="Cambria" pitchFamily="34" charset="-120"/>
              </a:rPr>
              <a:t>1 €/mes</a:t>
            </a:r>
            <a:endParaRPr lang="en-US" sz="1700" dirty="0"/>
          </a:p>
        </p:txBody>
      </p:sp>
      <p:sp>
        <p:nvSpPr>
          <p:cNvPr id="10" name="Shape 7"/>
          <p:cNvSpPr/>
          <p:nvPr/>
        </p:nvSpPr>
        <p:spPr>
          <a:xfrm>
            <a:off x="548640" y="2670048"/>
            <a:ext cx="11064240" cy="896112"/>
          </a:xfrm>
          <a:prstGeom prst="roundRect">
            <a:avLst>
              <a:gd name="adj" fmla="val 8163"/>
            </a:avLst>
          </a:prstGeom>
          <a:solidFill>
            <a:schemeClr val="bg2"/>
          </a:solidFill>
          <a:ln/>
        </p:spPr>
      </p:sp>
      <p:sp>
        <p:nvSpPr>
          <p:cNvPr id="11" name="Shape 8"/>
          <p:cNvSpPr/>
          <p:nvPr/>
        </p:nvSpPr>
        <p:spPr>
          <a:xfrm>
            <a:off x="777240" y="2798064"/>
            <a:ext cx="640080" cy="640080"/>
          </a:xfrm>
          <a:prstGeom prst="ellipse">
            <a:avLst/>
          </a:prstGeom>
          <a:solidFill>
            <a:schemeClr val="accent3"/>
          </a:solidFill>
          <a:ln/>
        </p:spPr>
      </p:sp>
      <p:pic>
        <p:nvPicPr>
          <p:cNvPr id="12" name="Image 1" descr="preencoded.png"/>
          <p:cNvPicPr>
            <a:picLocks noChangeAspect="1"/>
          </p:cNvPicPr>
          <p:nvPr/>
        </p:nvPicPr>
        <p:blipFill>
          <a:blip r:embed="rId4"/>
          <a:stretch>
            <a:fillRect/>
          </a:stretch>
        </p:blipFill>
        <p:spPr>
          <a:xfrm>
            <a:off x="943661" y="2964485"/>
            <a:ext cx="307238" cy="307238"/>
          </a:xfrm>
          <a:prstGeom prst="rect">
            <a:avLst/>
          </a:prstGeom>
        </p:spPr>
      </p:pic>
      <p:sp>
        <p:nvSpPr>
          <p:cNvPr id="13" name="Text 9"/>
          <p:cNvSpPr txBox="1"/>
          <p:nvPr/>
        </p:nvSpPr>
        <p:spPr>
          <a:xfrm>
            <a:off x="1645920" y="2743200"/>
            <a:ext cx="6858000" cy="32004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Key Vault (Standard)</a:t>
            </a:r>
            <a:endParaRPr lang="en-US" sz="1500" dirty="0"/>
          </a:p>
        </p:txBody>
      </p:sp>
      <p:sp>
        <p:nvSpPr>
          <p:cNvPr id="14" name="Text 10"/>
          <p:cNvSpPr txBox="1"/>
          <p:nvPr/>
        </p:nvSpPr>
        <p:spPr>
          <a:xfrm>
            <a:off x="1645920" y="3054096"/>
            <a:ext cx="6858000" cy="475488"/>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Custodia claves y secretos (LLM, ElevenLabs, certificados de SharePoint) fuera del código (0,0264 €/10.000 operaciones).</a:t>
            </a:r>
            <a:endParaRPr lang="en-US" sz="1150" dirty="0"/>
          </a:p>
        </p:txBody>
      </p:sp>
      <p:sp>
        <p:nvSpPr>
          <p:cNvPr id="15" name="Text 11"/>
          <p:cNvSpPr txBox="1"/>
          <p:nvPr/>
        </p:nvSpPr>
        <p:spPr>
          <a:xfrm>
            <a:off x="8686800" y="2670048"/>
            <a:ext cx="2697480" cy="896112"/>
          </a:xfrm>
          <a:prstGeom prst="rect">
            <a:avLst/>
          </a:prstGeom>
          <a:noFill/>
          <a:ln/>
        </p:spPr>
        <p:txBody>
          <a:bodyPr wrap="square" lIns="0" tIns="0" rIns="0" bIns="0" rtlCol="0" anchor="ctr"/>
          <a:lstStyle/>
          <a:p>
            <a:pPr marL="0" indent="0" algn="r">
              <a:buNone/>
            </a:pPr>
            <a:r>
              <a:rPr lang="en-US" sz="1700" b="1" dirty="0">
                <a:solidFill>
                  <a:schemeClr val="accent3"/>
                </a:solidFill>
                <a:latin typeface="Cambria" pitchFamily="34" charset="0"/>
                <a:ea typeface="Cambria" pitchFamily="34" charset="-122"/>
                <a:cs typeface="Cambria" pitchFamily="34" charset="-120"/>
              </a:rPr>
              <a:t>1 €/mes</a:t>
            </a:r>
            <a:endParaRPr lang="en-US" sz="1700" dirty="0"/>
          </a:p>
        </p:txBody>
      </p:sp>
      <p:sp>
        <p:nvSpPr>
          <p:cNvPr id="16" name="Shape 12"/>
          <p:cNvSpPr/>
          <p:nvPr/>
        </p:nvSpPr>
        <p:spPr>
          <a:xfrm>
            <a:off x="548640" y="3694176"/>
            <a:ext cx="11064240" cy="896112"/>
          </a:xfrm>
          <a:prstGeom prst="roundRect">
            <a:avLst>
              <a:gd name="adj" fmla="val 8163"/>
            </a:avLst>
          </a:prstGeom>
          <a:solidFill>
            <a:schemeClr val="bg2"/>
          </a:solidFill>
          <a:ln/>
        </p:spPr>
      </p:sp>
      <p:sp>
        <p:nvSpPr>
          <p:cNvPr id="17" name="Shape 13"/>
          <p:cNvSpPr/>
          <p:nvPr/>
        </p:nvSpPr>
        <p:spPr>
          <a:xfrm>
            <a:off x="777240" y="3822192"/>
            <a:ext cx="640080" cy="640080"/>
          </a:xfrm>
          <a:prstGeom prst="ellipse">
            <a:avLst/>
          </a:prstGeom>
          <a:solidFill>
            <a:schemeClr val="accent4"/>
          </a:solidFill>
          <a:ln/>
        </p:spPr>
      </p:sp>
      <p:pic>
        <p:nvPicPr>
          <p:cNvPr id="18" name="Image 2" descr="preencoded.png"/>
          <p:cNvPicPr>
            <a:picLocks noChangeAspect="1"/>
          </p:cNvPicPr>
          <p:nvPr/>
        </p:nvPicPr>
        <p:blipFill>
          <a:blip r:embed="rId5"/>
          <a:stretch>
            <a:fillRect/>
          </a:stretch>
        </p:blipFill>
        <p:spPr>
          <a:xfrm>
            <a:off x="943661" y="3988613"/>
            <a:ext cx="307238" cy="307238"/>
          </a:xfrm>
          <a:prstGeom prst="rect">
            <a:avLst/>
          </a:prstGeom>
        </p:spPr>
      </p:pic>
      <p:sp>
        <p:nvSpPr>
          <p:cNvPr id="19" name="Text 14"/>
          <p:cNvSpPr txBox="1"/>
          <p:nvPr/>
        </p:nvSpPr>
        <p:spPr>
          <a:xfrm>
            <a:off x="1645920" y="3767328"/>
            <a:ext cx="6858000" cy="32004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Log Analytics + Application Insights</a:t>
            </a:r>
            <a:endParaRPr lang="en-US" sz="1500" dirty="0"/>
          </a:p>
        </p:txBody>
      </p:sp>
      <p:sp>
        <p:nvSpPr>
          <p:cNvPr id="20" name="Text 15"/>
          <p:cNvSpPr txBox="1"/>
          <p:nvPr/>
        </p:nvSpPr>
        <p:spPr>
          <a:xfrm>
            <a:off x="1645920" y="4078224"/>
            <a:ext cx="6858000" cy="475488"/>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Logs estructurados, métricas y trazas para monitorizar la aplicación (2,0239 €/GB ingerido, ≈ 0,5 GB/mes modelados).</a:t>
            </a:r>
            <a:endParaRPr lang="en-US" sz="1150" dirty="0"/>
          </a:p>
        </p:txBody>
      </p:sp>
      <p:sp>
        <p:nvSpPr>
          <p:cNvPr id="21" name="Text 16"/>
          <p:cNvSpPr txBox="1"/>
          <p:nvPr/>
        </p:nvSpPr>
        <p:spPr>
          <a:xfrm>
            <a:off x="8686800" y="3694176"/>
            <a:ext cx="2697480" cy="896112"/>
          </a:xfrm>
          <a:prstGeom prst="rect">
            <a:avLst/>
          </a:prstGeom>
          <a:noFill/>
          <a:ln/>
        </p:spPr>
        <p:txBody>
          <a:bodyPr wrap="square" lIns="0" tIns="0" rIns="0" bIns="0" rtlCol="0" anchor="ctr"/>
          <a:lstStyle/>
          <a:p>
            <a:pPr marL="0" indent="0" algn="r">
              <a:buNone/>
            </a:pPr>
            <a:r>
              <a:rPr lang="en-US" sz="1700" b="1" dirty="0">
                <a:solidFill>
                  <a:schemeClr val="accent4"/>
                </a:solidFill>
                <a:latin typeface="Cambria" pitchFamily="34" charset="0"/>
                <a:ea typeface="Cambria" pitchFamily="34" charset="-122"/>
                <a:cs typeface="Cambria" pitchFamily="34" charset="-120"/>
              </a:rPr>
              <a:t>2 €/mes</a:t>
            </a:r>
            <a:endParaRPr lang="en-US" sz="1700" dirty="0"/>
          </a:p>
        </p:txBody>
      </p:sp>
      <p:sp>
        <p:nvSpPr>
          <p:cNvPr id="22" name="Shape 17"/>
          <p:cNvSpPr/>
          <p:nvPr/>
        </p:nvSpPr>
        <p:spPr>
          <a:xfrm>
            <a:off x="548640" y="4718304"/>
            <a:ext cx="11064240" cy="896112"/>
          </a:xfrm>
          <a:prstGeom prst="roundRect">
            <a:avLst>
              <a:gd name="adj" fmla="val 8163"/>
            </a:avLst>
          </a:prstGeom>
          <a:solidFill>
            <a:schemeClr val="bg2"/>
          </a:solidFill>
          <a:ln/>
        </p:spPr>
      </p:sp>
      <p:sp>
        <p:nvSpPr>
          <p:cNvPr id="23" name="Shape 18"/>
          <p:cNvSpPr/>
          <p:nvPr/>
        </p:nvSpPr>
        <p:spPr>
          <a:xfrm>
            <a:off x="777240" y="4846320"/>
            <a:ext cx="640080" cy="640080"/>
          </a:xfrm>
          <a:prstGeom prst="ellipse">
            <a:avLst/>
          </a:prstGeom>
          <a:solidFill>
            <a:schemeClr val="accent5"/>
          </a:solidFill>
          <a:ln/>
        </p:spPr>
      </p:sp>
      <p:pic>
        <p:nvPicPr>
          <p:cNvPr id="24" name="Image 3" descr="preencoded.png"/>
          <p:cNvPicPr>
            <a:picLocks noChangeAspect="1"/>
          </p:cNvPicPr>
          <p:nvPr/>
        </p:nvPicPr>
        <p:blipFill>
          <a:blip r:embed="rId6"/>
          <a:stretch>
            <a:fillRect/>
          </a:stretch>
        </p:blipFill>
        <p:spPr>
          <a:xfrm>
            <a:off x="943661" y="5012741"/>
            <a:ext cx="307238" cy="307238"/>
          </a:xfrm>
          <a:prstGeom prst="rect">
            <a:avLst/>
          </a:prstGeom>
        </p:spPr>
      </p:pic>
      <p:sp>
        <p:nvSpPr>
          <p:cNvPr id="25" name="Text 19"/>
          <p:cNvSpPr txBox="1"/>
          <p:nvPr/>
        </p:nvSpPr>
        <p:spPr>
          <a:xfrm>
            <a:off x="1645920" y="4791456"/>
            <a:ext cx="6858000" cy="32004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Managed Identity + Microsoft Entra ID (Easy Auth)</a:t>
            </a:r>
            <a:endParaRPr lang="en-US" sz="1500" dirty="0"/>
          </a:p>
        </p:txBody>
      </p:sp>
      <p:sp>
        <p:nvSpPr>
          <p:cNvPr id="26" name="Text 20"/>
          <p:cNvSpPr txBox="1"/>
          <p:nvPr/>
        </p:nvSpPr>
        <p:spPr>
          <a:xfrm>
            <a:off x="1645920" y="5102352"/>
            <a:ext cx="6858000" cy="475488"/>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Identidad sin contraseñas entre servicios de Azure y autenticación corporativa. Tráfico de salida dentro del tramo gratuito (≈ 100 GB/mes).</a:t>
            </a:r>
            <a:endParaRPr lang="en-US" sz="1150" dirty="0"/>
          </a:p>
        </p:txBody>
      </p:sp>
      <p:sp>
        <p:nvSpPr>
          <p:cNvPr id="27" name="Text 21"/>
          <p:cNvSpPr txBox="1"/>
          <p:nvPr/>
        </p:nvSpPr>
        <p:spPr>
          <a:xfrm>
            <a:off x="8686800" y="4718304"/>
            <a:ext cx="2697480" cy="896112"/>
          </a:xfrm>
          <a:prstGeom prst="rect">
            <a:avLst/>
          </a:prstGeom>
          <a:noFill/>
          <a:ln/>
        </p:spPr>
        <p:txBody>
          <a:bodyPr wrap="square" lIns="0" tIns="0" rIns="0" bIns="0" rtlCol="0" anchor="ctr"/>
          <a:lstStyle/>
          <a:p>
            <a:pPr marL="0" indent="0" algn="r">
              <a:buNone/>
            </a:pPr>
            <a:r>
              <a:rPr lang="en-US" sz="1700" b="1" dirty="0">
                <a:solidFill>
                  <a:schemeClr val="accent5"/>
                </a:solidFill>
                <a:latin typeface="Cambria" pitchFamily="34" charset="0"/>
                <a:ea typeface="Cambria" pitchFamily="34" charset="-122"/>
                <a:cs typeface="Cambria" pitchFamily="34" charset="-120"/>
              </a:rPr>
              <a:t>Incluido</a:t>
            </a:r>
            <a:endParaRPr lang="en-US" sz="1700" dirty="0"/>
          </a:p>
        </p:txBody>
      </p:sp>
      <p:sp>
        <p:nvSpPr>
          <p:cNvPr id="28" name="Text 22"/>
          <p:cNvSpPr txBox="1"/>
          <p:nvPr/>
        </p:nvSpPr>
        <p:spPr>
          <a:xfrm>
            <a:off x="548640" y="5852160"/>
            <a:ext cx="11064240" cy="320040"/>
          </a:xfrm>
          <a:prstGeom prst="rect">
            <a:avLst/>
          </a:prstGeom>
          <a:noFill/>
          <a:ln/>
        </p:spPr>
        <p:txBody>
          <a:bodyPr wrap="square" lIns="0" tIns="0" rIns="0" bIns="0" rtlCol="0" anchor="ctr"/>
          <a:lstStyle/>
          <a:p>
            <a:pPr marL="0" indent="0">
              <a:buNone/>
            </a:pPr>
            <a:r>
              <a:rPr lang="en-US" sz="1200" i="1" dirty="0">
                <a:solidFill>
                  <a:schemeClr val="accent1"/>
                </a:solidFill>
                <a:latin typeface="Calibri" pitchFamily="34" charset="0"/>
                <a:ea typeface="Calibri" pitchFamily="34" charset="-122"/>
                <a:cs typeface="Calibri" pitchFamily="34" charset="-120"/>
              </a:rPr>
              <a:t>Subtotal almacenamiento, seguridad y observabilidad: 4 €/mes   ·   TOTAL INFRAESTRUCTURA AZURE: 72 €/mes (fijo, 1-10 usuarios)</a:t>
            </a:r>
            <a:endParaRPr lang="en-US" sz="1200" dirty="0"/>
          </a:p>
        </p:txBody>
      </p:sp>
      <p:sp>
        <p:nvSpPr>
          <p:cNvPr id="29" name="Text 2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000" dirty="0">
                <a:solidFill>
                  <a:schemeClr val="accent6"/>
                </a:solidFill>
                <a:latin typeface="Calibri" pitchFamily="34" charset="0"/>
                <a:ea typeface="Calibri" pitchFamily="34" charset="-122"/>
                <a:cs typeface="Calibri" pitchFamily="34" charset="-120"/>
              </a:rPr>
              <a:t>mIA · Estimación de costes en Azure (producción)</a:t>
            </a:r>
            <a:endParaRPr lang="en-US" sz="1000" dirty="0"/>
          </a:p>
        </p:txBody>
      </p:sp>
      <p:sp>
        <p:nvSpPr>
          <p:cNvPr id="30" name="Text 2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1000" dirty="0">
                <a:solidFill>
                  <a:schemeClr val="accent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300" b="1" kern="0" spc="150" dirty="0">
                <a:solidFill>
                  <a:schemeClr val="accent1"/>
                </a:solidFill>
                <a:latin typeface="Calibri" pitchFamily="34" charset="0"/>
                <a:ea typeface="Calibri" pitchFamily="34" charset="-122"/>
                <a:cs typeface="Calibri" pitchFamily="34" charset="-120"/>
              </a:rPr>
              <a:t>MOTOR CONVERSACIONAL</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LLM · GPT-4.1 (Azure OpenAI, Global Standard)</a:t>
            </a:r>
            <a:endParaRPr lang="en-US" sz="2800" dirty="0"/>
          </a:p>
        </p:txBody>
      </p:sp>
      <p:sp>
        <p:nvSpPr>
          <p:cNvPr id="4" name="Shape 2"/>
          <p:cNvSpPr/>
          <p:nvPr/>
        </p:nvSpPr>
        <p:spPr>
          <a:xfrm>
            <a:off x="548640" y="1627632"/>
            <a:ext cx="3520440" cy="960120"/>
          </a:xfrm>
          <a:prstGeom prst="roundRect">
            <a:avLst>
              <a:gd name="adj" fmla="val 7619"/>
            </a:avLst>
          </a:prstGeom>
          <a:solidFill>
            <a:schemeClr val="bg2"/>
          </a:solidFill>
          <a:ln/>
        </p:spPr>
      </p:sp>
      <p:sp>
        <p:nvSpPr>
          <p:cNvPr id="5" name="Text 3"/>
          <p:cNvSpPr txBox="1"/>
          <p:nvPr/>
        </p:nvSpPr>
        <p:spPr>
          <a:xfrm>
            <a:off x="777240" y="1719072"/>
            <a:ext cx="3063240" cy="256032"/>
          </a:xfrm>
          <a:prstGeom prst="rect">
            <a:avLst/>
          </a:prstGeom>
          <a:noFill/>
          <a:ln/>
        </p:spPr>
        <p:txBody>
          <a:bodyPr wrap="square" lIns="0" tIns="0" rIns="0" bIns="0" rtlCol="0" anchor="ctr"/>
          <a:lstStyle/>
          <a:p>
            <a:pPr marL="0" indent="0">
              <a:buNone/>
            </a:pPr>
            <a:r>
              <a:rPr lang="en-US" sz="1100" b="1" kern="0" spc="100" dirty="0">
                <a:solidFill>
                  <a:schemeClr val="accent1"/>
                </a:solidFill>
                <a:latin typeface="Calibri" pitchFamily="34" charset="0"/>
                <a:ea typeface="Calibri" pitchFamily="34" charset="-122"/>
                <a:cs typeface="Calibri" pitchFamily="34" charset="-120"/>
              </a:rPr>
              <a:t>ENTRADA</a:t>
            </a:r>
            <a:endParaRPr lang="en-US" sz="1100" dirty="0"/>
          </a:p>
        </p:txBody>
      </p:sp>
      <p:sp>
        <p:nvSpPr>
          <p:cNvPr id="6" name="Text 4"/>
          <p:cNvSpPr txBox="1"/>
          <p:nvPr/>
        </p:nvSpPr>
        <p:spPr>
          <a:xfrm>
            <a:off x="777240" y="1929384"/>
            <a:ext cx="3063240" cy="411480"/>
          </a:xfrm>
          <a:prstGeom prst="rect">
            <a:avLst/>
          </a:prstGeom>
          <a:noFill/>
          <a:ln/>
        </p:spPr>
        <p:txBody>
          <a:bodyPr wrap="square" lIns="0" tIns="0" rIns="0" bIns="0" rtlCol="0" anchor="ctr"/>
          <a:lstStyle/>
          <a:p>
            <a:pPr marL="0" indent="0">
              <a:buNone/>
            </a:pPr>
            <a:r>
              <a:rPr lang="en-US" sz="2300" b="1" dirty="0">
                <a:solidFill>
                  <a:schemeClr val="tx1"/>
                </a:solidFill>
                <a:latin typeface="Cambria" pitchFamily="34" charset="0"/>
                <a:ea typeface="Cambria" pitchFamily="34" charset="-122"/>
                <a:cs typeface="Cambria" pitchFamily="34" charset="-120"/>
              </a:rPr>
              <a:t>1,80 €</a:t>
            </a:r>
            <a:endParaRPr lang="en-US" sz="2300" dirty="0"/>
          </a:p>
        </p:txBody>
      </p:sp>
      <p:sp>
        <p:nvSpPr>
          <p:cNvPr id="7" name="Text 5"/>
          <p:cNvSpPr txBox="1"/>
          <p:nvPr/>
        </p:nvSpPr>
        <p:spPr>
          <a:xfrm>
            <a:off x="777240" y="2331720"/>
            <a:ext cx="3063240" cy="219456"/>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por 1M tokens  (2,00 $)</a:t>
            </a:r>
            <a:endParaRPr lang="en-US" sz="1000" dirty="0"/>
          </a:p>
        </p:txBody>
      </p:sp>
      <p:sp>
        <p:nvSpPr>
          <p:cNvPr id="8" name="Shape 6"/>
          <p:cNvSpPr/>
          <p:nvPr/>
        </p:nvSpPr>
        <p:spPr>
          <a:xfrm>
            <a:off x="4343400" y="1627632"/>
            <a:ext cx="3520440" cy="960120"/>
          </a:xfrm>
          <a:prstGeom prst="roundRect">
            <a:avLst>
              <a:gd name="adj" fmla="val 7619"/>
            </a:avLst>
          </a:prstGeom>
          <a:solidFill>
            <a:schemeClr val="bg2"/>
          </a:solidFill>
          <a:ln/>
        </p:spPr>
      </p:sp>
      <p:sp>
        <p:nvSpPr>
          <p:cNvPr id="9" name="Text 7"/>
          <p:cNvSpPr txBox="1"/>
          <p:nvPr/>
        </p:nvSpPr>
        <p:spPr>
          <a:xfrm>
            <a:off x="4572000" y="1719072"/>
            <a:ext cx="3063240" cy="256032"/>
          </a:xfrm>
          <a:prstGeom prst="rect">
            <a:avLst/>
          </a:prstGeom>
          <a:noFill/>
          <a:ln/>
        </p:spPr>
        <p:txBody>
          <a:bodyPr wrap="square" lIns="0" tIns="0" rIns="0" bIns="0" rtlCol="0" anchor="ctr"/>
          <a:lstStyle/>
          <a:p>
            <a:pPr marL="0" indent="0">
              <a:buNone/>
            </a:pPr>
            <a:r>
              <a:rPr lang="en-US" sz="1100" b="1" kern="0" spc="100" dirty="0">
                <a:solidFill>
                  <a:schemeClr val="accent1"/>
                </a:solidFill>
                <a:latin typeface="Calibri" pitchFamily="34" charset="0"/>
                <a:ea typeface="Calibri" pitchFamily="34" charset="-122"/>
                <a:cs typeface="Calibri" pitchFamily="34" charset="-120"/>
              </a:rPr>
              <a:t>SALIDA</a:t>
            </a:r>
            <a:endParaRPr lang="en-US" sz="1100" dirty="0"/>
          </a:p>
        </p:txBody>
      </p:sp>
      <p:sp>
        <p:nvSpPr>
          <p:cNvPr id="10" name="Text 8"/>
          <p:cNvSpPr txBox="1"/>
          <p:nvPr/>
        </p:nvSpPr>
        <p:spPr>
          <a:xfrm>
            <a:off x="4572000" y="1929384"/>
            <a:ext cx="3063240" cy="411480"/>
          </a:xfrm>
          <a:prstGeom prst="rect">
            <a:avLst/>
          </a:prstGeom>
          <a:noFill/>
          <a:ln/>
        </p:spPr>
        <p:txBody>
          <a:bodyPr wrap="square" lIns="0" tIns="0" rIns="0" bIns="0" rtlCol="0" anchor="ctr"/>
          <a:lstStyle/>
          <a:p>
            <a:pPr marL="0" indent="0">
              <a:buNone/>
            </a:pPr>
            <a:r>
              <a:rPr lang="en-US" sz="2300" b="1" dirty="0">
                <a:solidFill>
                  <a:schemeClr val="tx1"/>
                </a:solidFill>
                <a:latin typeface="Cambria" pitchFamily="34" charset="0"/>
                <a:ea typeface="Cambria" pitchFamily="34" charset="-122"/>
                <a:cs typeface="Cambria" pitchFamily="34" charset="-120"/>
              </a:rPr>
              <a:t>7,00 €</a:t>
            </a:r>
            <a:endParaRPr lang="en-US" sz="2300" dirty="0"/>
          </a:p>
        </p:txBody>
      </p:sp>
      <p:sp>
        <p:nvSpPr>
          <p:cNvPr id="11" name="Text 9"/>
          <p:cNvSpPr txBox="1"/>
          <p:nvPr/>
        </p:nvSpPr>
        <p:spPr>
          <a:xfrm>
            <a:off x="4572000" y="2331720"/>
            <a:ext cx="3063240" cy="219456"/>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por 1M tokens  (8,00 $)</a:t>
            </a:r>
            <a:endParaRPr lang="en-US" sz="1000" dirty="0"/>
          </a:p>
        </p:txBody>
      </p:sp>
      <p:sp>
        <p:nvSpPr>
          <p:cNvPr id="12" name="Shape 10"/>
          <p:cNvSpPr/>
          <p:nvPr/>
        </p:nvSpPr>
        <p:spPr>
          <a:xfrm>
            <a:off x="8138160" y="1627632"/>
            <a:ext cx="3520440" cy="960120"/>
          </a:xfrm>
          <a:prstGeom prst="roundRect">
            <a:avLst>
              <a:gd name="adj" fmla="val 7619"/>
            </a:avLst>
          </a:prstGeom>
          <a:solidFill>
            <a:schemeClr val="bg2"/>
          </a:solidFill>
          <a:ln/>
        </p:spPr>
      </p:sp>
      <p:sp>
        <p:nvSpPr>
          <p:cNvPr id="13" name="Text 11"/>
          <p:cNvSpPr txBox="1"/>
          <p:nvPr/>
        </p:nvSpPr>
        <p:spPr>
          <a:xfrm>
            <a:off x="8366760" y="1719072"/>
            <a:ext cx="3063240" cy="256032"/>
          </a:xfrm>
          <a:prstGeom prst="rect">
            <a:avLst/>
          </a:prstGeom>
          <a:noFill/>
          <a:ln/>
        </p:spPr>
        <p:txBody>
          <a:bodyPr wrap="square" lIns="0" tIns="0" rIns="0" bIns="0" rtlCol="0" anchor="ctr"/>
          <a:lstStyle/>
          <a:p>
            <a:pPr marL="0" indent="0">
              <a:buNone/>
            </a:pPr>
            <a:r>
              <a:rPr lang="en-US" sz="1100" b="1" kern="0" spc="100" dirty="0">
                <a:solidFill>
                  <a:schemeClr val="accent1"/>
                </a:solidFill>
                <a:latin typeface="Calibri" pitchFamily="34" charset="0"/>
                <a:ea typeface="Calibri" pitchFamily="34" charset="-122"/>
                <a:cs typeface="Calibri" pitchFamily="34" charset="-120"/>
              </a:rPr>
              <a:t>ENTRADA EN CACHÉ</a:t>
            </a:r>
            <a:endParaRPr lang="en-US" sz="1100" dirty="0"/>
          </a:p>
        </p:txBody>
      </p:sp>
      <p:sp>
        <p:nvSpPr>
          <p:cNvPr id="14" name="Text 12"/>
          <p:cNvSpPr txBox="1"/>
          <p:nvPr/>
        </p:nvSpPr>
        <p:spPr>
          <a:xfrm>
            <a:off x="8366760" y="1929384"/>
            <a:ext cx="3063240" cy="411480"/>
          </a:xfrm>
          <a:prstGeom prst="rect">
            <a:avLst/>
          </a:prstGeom>
          <a:noFill/>
          <a:ln/>
        </p:spPr>
        <p:txBody>
          <a:bodyPr wrap="square" lIns="0" tIns="0" rIns="0" bIns="0" rtlCol="0" anchor="ctr"/>
          <a:lstStyle/>
          <a:p>
            <a:pPr marL="0" indent="0">
              <a:buNone/>
            </a:pPr>
            <a:r>
              <a:rPr lang="en-US" sz="2300" b="1" dirty="0">
                <a:solidFill>
                  <a:schemeClr val="tx1"/>
                </a:solidFill>
                <a:latin typeface="Cambria" pitchFamily="34" charset="0"/>
                <a:ea typeface="Cambria" pitchFamily="34" charset="-122"/>
                <a:cs typeface="Cambria" pitchFamily="34" charset="-120"/>
              </a:rPr>
              <a:t>0,40 €</a:t>
            </a:r>
            <a:endParaRPr lang="en-US" sz="2300" dirty="0"/>
          </a:p>
        </p:txBody>
      </p:sp>
      <p:sp>
        <p:nvSpPr>
          <p:cNvPr id="15" name="Text 13"/>
          <p:cNvSpPr txBox="1"/>
          <p:nvPr/>
        </p:nvSpPr>
        <p:spPr>
          <a:xfrm>
            <a:off x="8366760" y="2331720"/>
            <a:ext cx="3063240" cy="219456"/>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por 1M tokens  (0,50 $)</a:t>
            </a:r>
            <a:endParaRPr lang="en-US" sz="1000" dirty="0"/>
          </a:p>
        </p:txBody>
      </p:sp>
      <p:sp>
        <p:nvSpPr>
          <p:cNvPr id="16" name="Text 14"/>
          <p:cNvSpPr txBox="1"/>
          <p:nvPr/>
        </p:nvSpPr>
        <p:spPr>
          <a:xfrm>
            <a:off x="548640" y="2743200"/>
            <a:ext cx="9144000" cy="292608"/>
          </a:xfrm>
          <a:prstGeom prst="rect">
            <a:avLst/>
          </a:prstGeom>
          <a:noFill/>
          <a:ln/>
        </p:spPr>
        <p:txBody>
          <a:bodyPr wrap="square" lIns="0" tIns="0" rIns="0" bIns="0" rtlCol="0" anchor="ctr"/>
          <a:lstStyle/>
          <a:p>
            <a:pPr marL="0" indent="0">
              <a:buNone/>
            </a:pPr>
            <a:r>
              <a:rPr lang="en-US" sz="1300" b="1" dirty="0">
                <a:solidFill>
                  <a:schemeClr val="accent5"/>
                </a:solidFill>
                <a:latin typeface="Calibri" pitchFamily="34" charset="0"/>
                <a:ea typeface="Calibri" pitchFamily="34" charset="-122"/>
                <a:cs typeface="Calibri" pitchFamily="34" charset="-120"/>
              </a:rPr>
              <a:t>Ejemplos de coste por persona usuaria y mes (22 días laborables)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090672"/>
          <a:ext cx="11064240" cy="1623060"/>
        </p:xfrm>
        <a:graphic>
          <a:graphicData uri="http://schemas.openxmlformats.org/drawingml/2006/table">
            <a:tbl>
              <a:tblPr/>
              <a:tblGrid>
                <a:gridCol w="37490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388620">
                <a:tc>
                  <a:txBody>
                    <a:bodyPr/>
                    <a:lstStyle/>
                    <a:p>
                      <a:pPr marL="0" indent="0" algn="ctr">
                        <a:buNone/>
                      </a:pPr>
                      <a:r>
                        <a:rPr lang="en-US" sz="1100" b="1" dirty="0">
                          <a:solidFill>
                            <a:schemeClr val="bg1"/>
                          </a:solidFill>
                        </a:rPr>
                        <a:t>Perfil de uso</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Consultas / día</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Tokens entrada (aprox.)</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Tokens salida (aprox.)</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00" b="1" dirty="0">
                          <a:solidFill>
                            <a:schemeClr val="bg1"/>
                          </a:solidFill>
                        </a:rPr>
                        <a:t>Coste GPT-4.1 / mes</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88620">
                <a:tc>
                  <a:txBody>
                    <a:bodyPr/>
                    <a:lstStyle/>
                    <a:p>
                      <a:pPr marL="0" indent="0" algn="l">
                        <a:buNone/>
                      </a:pPr>
                      <a:r>
                        <a:rPr lang="en-US" sz="1050" dirty="0">
                          <a:solidFill>
                            <a:schemeClr val="tx1"/>
                          </a:solidFill>
                        </a:rPr>
                        <a:t>Ligero — consultas puntuales</a:t>
                      </a:r>
                      <a:endParaRPr lang="en-US" sz="1050" dirty="0"/>
                    </a:p>
                    <a:p>
                      <a:pPr marL="0" indent="0" algn="l">
                        <a:buNone/>
                      </a:pPr>
                      <a:r>
                        <a:rPr lang="en-US" sz="1050" dirty="0">
                          <a:solidFill>
                            <a:schemeClr val="tx1"/>
                          </a:solidFill>
                        </a:rPr>
                        <a:t>(p. ej. "¿cuántos días de vacaciones me quedan?")</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050" dirty="0">
                          <a:solidFill>
                            <a:schemeClr val="tx1"/>
                          </a:solidFill>
                        </a:rPr>
                        <a:t>5</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050" dirty="0">
                          <a:solidFill>
                            <a:schemeClr val="tx1"/>
                          </a:solidFill>
                        </a:rPr>
                        <a:t>≈ 2.000</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050" dirty="0">
                          <a:solidFill>
                            <a:schemeClr val="tx1"/>
                          </a:solidFill>
                        </a:rPr>
                        <a:t>≈ 400</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050" dirty="0">
                          <a:solidFill>
                            <a:schemeClr val="tx1"/>
                          </a:solidFill>
                        </a:rPr>
                        <a:t>0,70 €</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88620">
                <a:tc>
                  <a:txBody>
                    <a:bodyPr/>
                    <a:lstStyle/>
                    <a:p>
                      <a:pPr marL="0" indent="0" algn="l">
                        <a:buNone/>
                      </a:pPr>
                      <a:r>
                        <a:rPr lang="en-US" sz="1050" dirty="0">
                          <a:solidFill>
                            <a:schemeClr val="tx1"/>
                          </a:solidFill>
                        </a:rPr>
                        <a:t>Medio — uso diario</a:t>
                      </a:r>
                      <a:endParaRPr lang="en-US" sz="1050" dirty="0"/>
                    </a:p>
                    <a:p>
                      <a:pPr marL="0" indent="0" algn="l">
                        <a:buNone/>
                      </a:pPr>
                      <a:r>
                        <a:rPr lang="en-US" sz="1050" dirty="0">
                          <a:solidFill>
                            <a:schemeClr val="tx1"/>
                          </a:solidFill>
                        </a:rPr>
                        <a:t>(p. ej. "resume mis últimos 10 correos")</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050" dirty="0">
                          <a:solidFill>
                            <a:schemeClr val="tx1"/>
                          </a:solidFill>
                        </a:rPr>
                        <a:t>15</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050" dirty="0">
                          <a:solidFill>
                            <a:schemeClr val="tx1"/>
                          </a:solidFill>
                        </a:rPr>
                        <a:t>≈ 3.000</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050" dirty="0">
                          <a:solidFill>
                            <a:schemeClr val="tx1"/>
                          </a:solidFill>
                        </a:rPr>
                        <a:t>≈ 500</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050" dirty="0">
                          <a:solidFill>
                            <a:schemeClr val="tx1"/>
                          </a:solidFill>
                        </a:rPr>
                        <a:t>2,94 €</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8620">
                <a:tc>
                  <a:txBody>
                    <a:bodyPr/>
                    <a:lstStyle/>
                    <a:p>
                      <a:pPr marL="0" indent="0" algn="l">
                        <a:buNone/>
                      </a:pPr>
                      <a:r>
                        <a:rPr lang="en-US" sz="1050" dirty="0">
                          <a:solidFill>
                            <a:schemeClr val="tx1"/>
                          </a:solidFill>
                        </a:rPr>
                        <a:t>Intensivo — power user</a:t>
                      </a:r>
                      <a:endParaRPr lang="en-US" sz="1050" dirty="0"/>
                    </a:p>
                    <a:p>
                      <a:pPr marL="0" indent="0" algn="l">
                        <a:buNone/>
                      </a:pPr>
                      <a:r>
                        <a:rPr lang="en-US" sz="1050" dirty="0">
                          <a:solidFill>
                            <a:schemeClr val="tx1"/>
                          </a:solidFill>
                        </a:rPr>
                        <a:t>(informes, correo, varios dominios RRHH)</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050" dirty="0">
                          <a:solidFill>
                            <a:schemeClr val="tx1"/>
                          </a:solidFill>
                        </a:rPr>
                        <a:t>30</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050" dirty="0">
                          <a:solidFill>
                            <a:schemeClr val="tx1"/>
                          </a:solidFill>
                        </a:rPr>
                        <a:t>≈ 4.500</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050" dirty="0">
                          <a:solidFill>
                            <a:schemeClr val="tx1"/>
                          </a:solidFill>
                        </a:rPr>
                        <a:t>≈ 700</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050" dirty="0">
                          <a:solidFill>
                            <a:schemeClr val="tx1"/>
                          </a:solidFill>
                        </a:rPr>
                        <a:t>8,58 €</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18" name="Text 15"/>
          <p:cNvSpPr txBox="1"/>
          <p:nvPr/>
        </p:nvSpPr>
        <p:spPr>
          <a:xfrm>
            <a:off x="548640" y="4754880"/>
            <a:ext cx="11064240" cy="274320"/>
          </a:xfrm>
          <a:prstGeom prst="rect">
            <a:avLst/>
          </a:prstGeom>
          <a:noFill/>
          <a:ln/>
        </p:spPr>
        <p:txBody>
          <a:bodyPr wrap="square" lIns="0" tIns="0" rIns="0" bIns="0" rtlCol="0" anchor="ctr"/>
          <a:lstStyle/>
          <a:p>
            <a:pPr marL="0" indent="0">
              <a:buNone/>
            </a:pPr>
            <a:r>
              <a:rPr lang="en-US" sz="1050" i="1" dirty="0">
                <a:solidFill>
                  <a:schemeClr val="accent5"/>
                </a:solidFill>
                <a:latin typeface="Calibri" pitchFamily="34" charset="0"/>
                <a:ea typeface="Calibri" pitchFamily="34" charset="-122"/>
                <a:cs typeface="Calibri" pitchFamily="34" charset="-120"/>
              </a:rPr>
              <a:t>Búsqueda semántica de currículums (text-embedding-3-small): 0,02 €/1M tokens — coste modelado inferior a 0,01 €/mes para el volumen actual de CVs.</a:t>
            </a:r>
            <a:endParaRPr lang="en-US" sz="1050" dirty="0"/>
          </a:p>
        </p:txBody>
      </p:sp>
      <p:sp>
        <p:nvSpPr>
          <p:cNvPr id="19" name="Shape 16"/>
          <p:cNvSpPr/>
          <p:nvPr/>
        </p:nvSpPr>
        <p:spPr>
          <a:xfrm>
            <a:off x="548640" y="5102352"/>
            <a:ext cx="11064240" cy="868680"/>
          </a:xfrm>
          <a:prstGeom prst="roundRect">
            <a:avLst>
              <a:gd name="adj" fmla="val 8421"/>
            </a:avLst>
          </a:prstGeom>
          <a:solidFill>
            <a:schemeClr val="accent6"/>
          </a:solidFill>
          <a:ln/>
        </p:spPr>
      </p:sp>
      <p:sp>
        <p:nvSpPr>
          <p:cNvPr id="20" name="Text 17"/>
          <p:cNvSpPr txBox="1"/>
          <p:nvPr/>
        </p:nvSpPr>
        <p:spPr>
          <a:xfrm>
            <a:off x="777240" y="5102352"/>
            <a:ext cx="10607040" cy="868680"/>
          </a:xfrm>
          <a:prstGeom prst="rect">
            <a:avLst/>
          </a:prstGeom>
          <a:noFill/>
          <a:ln/>
        </p:spPr>
        <p:txBody>
          <a:bodyPr wrap="square" lIns="0" tIns="0" rIns="0" bIns="0" rtlCol="0" anchor="ctr"/>
          <a:lstStyle/>
          <a:p>
            <a:pPr marL="0" indent="0">
              <a:buNone/>
            </a:pPr>
            <a:r>
              <a:rPr lang="en-US" sz="1150" b="1" dirty="0">
                <a:solidFill>
                  <a:schemeClr val="accent5"/>
                </a:solidFill>
                <a:latin typeface="Calibri" pitchFamily="34" charset="0"/>
                <a:ea typeface="Calibri" pitchFamily="34" charset="-122"/>
                <a:cs typeface="Calibri" pitchFamily="34" charset="-120"/>
              </a:rPr>
              <a:t>Alternativa más económica:  </a:t>
            </a:r>
            <a:r>
              <a:rPr lang="en-US" sz="1150" dirty="0">
                <a:solidFill>
                  <a:schemeClr val="accent5"/>
                </a:solidFill>
                <a:latin typeface="Calibri" pitchFamily="34" charset="0"/>
                <a:ea typeface="Calibri" pitchFamily="34" charset="-122"/>
                <a:cs typeface="Calibri" pitchFamily="34" charset="-120"/>
              </a:rPr>
              <a:t>gpt-4.1-mini factura 0,40 € / 1,40 € por 1M tokens (entrada/salida) — los mismos perfiles costarían ≈ 0,14 / 0,59 / 1,72 €/mes (≈ 80 % menos). No es el modelo en uso hoy (mIA usa GPT-4.1 completo); se cita solo como opción de ahorro a evaluar.</a:t>
            </a:r>
            <a:endParaRPr lang="en-US" sz="1150" dirty="0"/>
          </a:p>
        </p:txBody>
      </p:sp>
      <p:sp>
        <p:nvSpPr>
          <p:cNvPr id="21" name="Text 18"/>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000" dirty="0">
                <a:solidFill>
                  <a:schemeClr val="accent6"/>
                </a:solidFill>
                <a:latin typeface="Calibri" pitchFamily="34" charset="0"/>
                <a:ea typeface="Calibri" pitchFamily="34" charset="-122"/>
                <a:cs typeface="Calibri" pitchFamily="34" charset="-120"/>
              </a:rPr>
              <a:t>mIA · Estimación de costes en Azure (producción)</a:t>
            </a:r>
            <a:endParaRPr lang="en-US" sz="1000" dirty="0"/>
          </a:p>
        </p:txBody>
      </p:sp>
      <p:sp>
        <p:nvSpPr>
          <p:cNvPr id="22" name="Text 19"/>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1000" dirty="0">
                <a:solidFill>
                  <a:schemeClr val="accent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300" b="1" kern="0" spc="150" dirty="0">
                <a:solidFill>
                  <a:schemeClr val="accent1"/>
                </a:solidFill>
                <a:latin typeface="Calibri" pitchFamily="34" charset="0"/>
                <a:ea typeface="Calibri" pitchFamily="34" charset="-122"/>
                <a:cs typeface="Calibri" pitchFamily="34" charset="-120"/>
              </a:rPr>
              <a:t>VOZ CONVERSACIONAL</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ElevenLabs · síntesis de voz (modelo Flash v2.5)</a:t>
            </a:r>
            <a:endParaRPr lang="en-US" sz="2800" dirty="0"/>
          </a:p>
        </p:txBody>
      </p:sp>
      <p:sp>
        <p:nvSpPr>
          <p:cNvPr id="4" name="Shape 2"/>
          <p:cNvSpPr/>
          <p:nvPr/>
        </p:nvSpPr>
        <p:spPr>
          <a:xfrm>
            <a:off x="548640" y="1627632"/>
            <a:ext cx="3520440" cy="960120"/>
          </a:xfrm>
          <a:prstGeom prst="roundRect">
            <a:avLst>
              <a:gd name="adj" fmla="val 7619"/>
            </a:avLst>
          </a:prstGeom>
          <a:solidFill>
            <a:schemeClr val="bg2"/>
          </a:solidFill>
          <a:ln/>
        </p:spPr>
      </p:sp>
      <p:sp>
        <p:nvSpPr>
          <p:cNvPr id="5" name="Text 3"/>
          <p:cNvSpPr txBox="1"/>
          <p:nvPr/>
        </p:nvSpPr>
        <p:spPr>
          <a:xfrm>
            <a:off x="777240" y="1719072"/>
            <a:ext cx="3063240" cy="256032"/>
          </a:xfrm>
          <a:prstGeom prst="rect">
            <a:avLst/>
          </a:prstGeom>
          <a:noFill/>
          <a:ln/>
        </p:spPr>
        <p:txBody>
          <a:bodyPr wrap="square" lIns="0" tIns="0" rIns="0" bIns="0" rtlCol="0" anchor="ctr"/>
          <a:lstStyle/>
          <a:p>
            <a:pPr marL="0" indent="0">
              <a:buNone/>
            </a:pPr>
            <a:r>
              <a:rPr lang="en-US" sz="1100" b="1" kern="0" spc="100" dirty="0">
                <a:solidFill>
                  <a:schemeClr val="accent3"/>
                </a:solidFill>
                <a:latin typeface="Calibri" pitchFamily="34" charset="0"/>
                <a:ea typeface="Calibri" pitchFamily="34" charset="-122"/>
                <a:cs typeface="Calibri" pitchFamily="34" charset="-120"/>
              </a:rPr>
              <a:t>PAGO POR USO (API)</a:t>
            </a:r>
            <a:endParaRPr lang="en-US" sz="1100" dirty="0"/>
          </a:p>
        </p:txBody>
      </p:sp>
      <p:sp>
        <p:nvSpPr>
          <p:cNvPr id="6" name="Text 4"/>
          <p:cNvSpPr txBox="1"/>
          <p:nvPr/>
        </p:nvSpPr>
        <p:spPr>
          <a:xfrm>
            <a:off x="777240" y="1929384"/>
            <a:ext cx="3063240" cy="411480"/>
          </a:xfrm>
          <a:prstGeom prst="rect">
            <a:avLst/>
          </a:prstGeom>
          <a:noFill/>
          <a:ln/>
        </p:spPr>
        <p:txBody>
          <a:bodyPr wrap="square" lIns="0" tIns="0" rIns="0" bIns="0" rtlCol="0" anchor="ctr"/>
          <a:lstStyle/>
          <a:p>
            <a:pPr marL="0" indent="0">
              <a:buNone/>
            </a:pPr>
            <a:r>
              <a:rPr lang="en-US" sz="2100" b="1" dirty="0">
                <a:solidFill>
                  <a:schemeClr val="tx1"/>
                </a:solidFill>
                <a:latin typeface="Cambria" pitchFamily="34" charset="0"/>
                <a:ea typeface="Cambria" pitchFamily="34" charset="-122"/>
                <a:cs typeface="Cambria" pitchFamily="34" charset="-120"/>
              </a:rPr>
              <a:t>0,0357 €</a:t>
            </a:r>
            <a:endParaRPr lang="en-US" sz="2100" dirty="0"/>
          </a:p>
        </p:txBody>
      </p:sp>
      <p:sp>
        <p:nvSpPr>
          <p:cNvPr id="7" name="Text 5"/>
          <p:cNvSpPr txBox="1"/>
          <p:nvPr/>
        </p:nvSpPr>
        <p:spPr>
          <a:xfrm>
            <a:off x="777240" y="2331720"/>
            <a:ext cx="3063240" cy="219456"/>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por 1.000 caracteres  (0,04 $)</a:t>
            </a:r>
            <a:endParaRPr lang="en-US" sz="1000" dirty="0"/>
          </a:p>
        </p:txBody>
      </p:sp>
      <p:sp>
        <p:nvSpPr>
          <p:cNvPr id="8" name="Shape 6"/>
          <p:cNvSpPr/>
          <p:nvPr/>
        </p:nvSpPr>
        <p:spPr>
          <a:xfrm>
            <a:off x="4343400" y="1627632"/>
            <a:ext cx="3520440" cy="960120"/>
          </a:xfrm>
          <a:prstGeom prst="roundRect">
            <a:avLst>
              <a:gd name="adj" fmla="val 7619"/>
            </a:avLst>
          </a:prstGeom>
          <a:solidFill>
            <a:schemeClr val="bg2"/>
          </a:solidFill>
          <a:ln/>
        </p:spPr>
      </p:sp>
      <p:sp>
        <p:nvSpPr>
          <p:cNvPr id="9" name="Text 7"/>
          <p:cNvSpPr txBox="1"/>
          <p:nvPr/>
        </p:nvSpPr>
        <p:spPr>
          <a:xfrm>
            <a:off x="4572000" y="1719072"/>
            <a:ext cx="3063240" cy="256032"/>
          </a:xfrm>
          <a:prstGeom prst="rect">
            <a:avLst/>
          </a:prstGeom>
          <a:noFill/>
          <a:ln/>
        </p:spPr>
        <p:txBody>
          <a:bodyPr wrap="square" lIns="0" tIns="0" rIns="0" bIns="0" rtlCol="0" anchor="ctr"/>
          <a:lstStyle/>
          <a:p>
            <a:pPr marL="0" indent="0">
              <a:buNone/>
            </a:pPr>
            <a:r>
              <a:rPr lang="en-US" sz="1100" b="1" kern="0" spc="100" dirty="0">
                <a:solidFill>
                  <a:schemeClr val="accent3"/>
                </a:solidFill>
                <a:latin typeface="Calibri" pitchFamily="34" charset="0"/>
                <a:ea typeface="Calibri" pitchFamily="34" charset="-122"/>
                <a:cs typeface="Calibri" pitchFamily="34" charset="-120"/>
              </a:rPr>
              <a:t>PLAN CREATOR (REF.)</a:t>
            </a:r>
            <a:endParaRPr lang="en-US" sz="1100" dirty="0"/>
          </a:p>
        </p:txBody>
      </p:sp>
      <p:sp>
        <p:nvSpPr>
          <p:cNvPr id="10" name="Text 8"/>
          <p:cNvSpPr txBox="1"/>
          <p:nvPr/>
        </p:nvSpPr>
        <p:spPr>
          <a:xfrm>
            <a:off x="4572000" y="1929384"/>
            <a:ext cx="3063240" cy="411480"/>
          </a:xfrm>
          <a:prstGeom prst="rect">
            <a:avLst/>
          </a:prstGeom>
          <a:noFill/>
          <a:ln/>
        </p:spPr>
        <p:txBody>
          <a:bodyPr wrap="square" lIns="0" tIns="0" rIns="0" bIns="0" rtlCol="0" anchor="ctr"/>
          <a:lstStyle/>
          <a:p>
            <a:pPr marL="0" indent="0">
              <a:buNone/>
            </a:pPr>
            <a:r>
              <a:rPr lang="en-US" sz="2100" b="1" dirty="0">
                <a:solidFill>
                  <a:schemeClr val="tx1"/>
                </a:solidFill>
                <a:latin typeface="Cambria" pitchFamily="34" charset="0"/>
                <a:ea typeface="Cambria" pitchFamily="34" charset="-122"/>
                <a:cs typeface="Cambria" pitchFamily="34" charset="-120"/>
              </a:rPr>
              <a:t>19,62 €/mes</a:t>
            </a:r>
            <a:endParaRPr lang="en-US" sz="2100" dirty="0"/>
          </a:p>
        </p:txBody>
      </p:sp>
      <p:sp>
        <p:nvSpPr>
          <p:cNvPr id="11" name="Text 9"/>
          <p:cNvSpPr txBox="1"/>
          <p:nvPr/>
        </p:nvSpPr>
        <p:spPr>
          <a:xfrm>
            <a:off x="4572000" y="2331720"/>
            <a:ext cx="3063240" cy="219456"/>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121.000 créditos (22 $)</a:t>
            </a:r>
            <a:endParaRPr lang="en-US" sz="1000" dirty="0"/>
          </a:p>
        </p:txBody>
      </p:sp>
      <p:sp>
        <p:nvSpPr>
          <p:cNvPr id="12" name="Shape 10"/>
          <p:cNvSpPr/>
          <p:nvPr/>
        </p:nvSpPr>
        <p:spPr>
          <a:xfrm>
            <a:off x="8138160" y="1627632"/>
            <a:ext cx="3520440" cy="960120"/>
          </a:xfrm>
          <a:prstGeom prst="roundRect">
            <a:avLst>
              <a:gd name="adj" fmla="val 7619"/>
            </a:avLst>
          </a:prstGeom>
          <a:solidFill>
            <a:schemeClr val="bg2"/>
          </a:solidFill>
          <a:ln/>
        </p:spPr>
      </p:sp>
      <p:sp>
        <p:nvSpPr>
          <p:cNvPr id="13" name="Text 11"/>
          <p:cNvSpPr txBox="1"/>
          <p:nvPr/>
        </p:nvSpPr>
        <p:spPr>
          <a:xfrm>
            <a:off x="8366760" y="1719072"/>
            <a:ext cx="3063240" cy="256032"/>
          </a:xfrm>
          <a:prstGeom prst="rect">
            <a:avLst/>
          </a:prstGeom>
          <a:noFill/>
          <a:ln/>
        </p:spPr>
        <p:txBody>
          <a:bodyPr wrap="square" lIns="0" tIns="0" rIns="0" bIns="0" rtlCol="0" anchor="ctr"/>
          <a:lstStyle/>
          <a:p>
            <a:pPr marL="0" indent="0">
              <a:buNone/>
            </a:pPr>
            <a:r>
              <a:rPr lang="en-US" sz="1100" b="1" kern="0" spc="100" dirty="0">
                <a:solidFill>
                  <a:schemeClr val="accent3"/>
                </a:solidFill>
                <a:latin typeface="Calibri" pitchFamily="34" charset="0"/>
                <a:ea typeface="Calibri" pitchFamily="34" charset="-122"/>
                <a:cs typeface="Calibri" pitchFamily="34" charset="-120"/>
              </a:rPr>
              <a:t>PLAN PRO (REF.)</a:t>
            </a:r>
            <a:endParaRPr lang="en-US" sz="1100" dirty="0"/>
          </a:p>
        </p:txBody>
      </p:sp>
      <p:sp>
        <p:nvSpPr>
          <p:cNvPr id="14" name="Text 12"/>
          <p:cNvSpPr txBox="1"/>
          <p:nvPr/>
        </p:nvSpPr>
        <p:spPr>
          <a:xfrm>
            <a:off x="8366760" y="1929384"/>
            <a:ext cx="3063240" cy="411480"/>
          </a:xfrm>
          <a:prstGeom prst="rect">
            <a:avLst/>
          </a:prstGeom>
          <a:noFill/>
          <a:ln/>
        </p:spPr>
        <p:txBody>
          <a:bodyPr wrap="square" lIns="0" tIns="0" rIns="0" bIns="0" rtlCol="0" anchor="ctr"/>
          <a:lstStyle/>
          <a:p>
            <a:pPr marL="0" indent="0">
              <a:buNone/>
            </a:pPr>
            <a:r>
              <a:rPr lang="en-US" sz="2100" b="1" dirty="0">
                <a:solidFill>
                  <a:schemeClr val="tx1"/>
                </a:solidFill>
                <a:latin typeface="Cambria" pitchFamily="34" charset="0"/>
                <a:ea typeface="Cambria" pitchFamily="34" charset="-122"/>
                <a:cs typeface="Cambria" pitchFamily="34" charset="-120"/>
              </a:rPr>
              <a:t>88,28 €/mes</a:t>
            </a:r>
            <a:endParaRPr lang="en-US" sz="2100" dirty="0"/>
          </a:p>
        </p:txBody>
      </p:sp>
      <p:sp>
        <p:nvSpPr>
          <p:cNvPr id="15" name="Text 13"/>
          <p:cNvSpPr txBox="1"/>
          <p:nvPr/>
        </p:nvSpPr>
        <p:spPr>
          <a:xfrm>
            <a:off x="8366760" y="2331720"/>
            <a:ext cx="3063240" cy="219456"/>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600.000 créditos (99 $)</a:t>
            </a:r>
            <a:endParaRPr lang="en-US" sz="1000" dirty="0"/>
          </a:p>
        </p:txBody>
      </p:sp>
      <p:sp>
        <p:nvSpPr>
          <p:cNvPr id="16" name="Text 14"/>
          <p:cNvSpPr txBox="1"/>
          <p:nvPr/>
        </p:nvSpPr>
        <p:spPr>
          <a:xfrm>
            <a:off x="548640" y="2743200"/>
            <a:ext cx="10058400" cy="292608"/>
          </a:xfrm>
          <a:prstGeom prst="rect">
            <a:avLst/>
          </a:prstGeom>
          <a:noFill/>
          <a:ln/>
        </p:spPr>
        <p:txBody>
          <a:bodyPr wrap="square" lIns="0" tIns="0" rIns="0" bIns="0" rtlCol="0" anchor="ctr"/>
          <a:lstStyle/>
          <a:p>
            <a:pPr marL="0" indent="0">
              <a:buNone/>
            </a:pPr>
            <a:r>
              <a:rPr lang="en-US" sz="1300" b="1" dirty="0">
                <a:solidFill>
                  <a:schemeClr val="accent5"/>
                </a:solidFill>
                <a:latin typeface="Calibri" pitchFamily="34" charset="0"/>
                <a:ea typeface="Calibri" pitchFamily="34" charset="-122"/>
                <a:cs typeface="Calibri" pitchFamily="34" charset="-120"/>
              </a:rPr>
              <a:t>Ejemplos de coste por persona usuaria y mes (pago por uso, 22 días laborables)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090672"/>
          <a:ext cx="11064240" cy="1188720"/>
        </p:xfrm>
        <a:graphic>
          <a:graphicData uri="http://schemas.openxmlformats.org/drawingml/2006/table">
            <a:tbl>
              <a:tblPr/>
              <a:tblGrid>
                <a:gridCol w="4663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96240">
                <a:tc>
                  <a:txBody>
                    <a:bodyPr/>
                    <a:lstStyle/>
                    <a:p>
                      <a:pPr marL="0" indent="0" algn="ctr">
                        <a:buNone/>
                      </a:pPr>
                      <a:r>
                        <a:rPr lang="en-US" sz="1100" b="1" dirty="0">
                          <a:solidFill>
                            <a:schemeClr val="bg1"/>
                          </a:solidFill>
                        </a:rPr>
                        <a:t>Perfil de voz</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tc>
                  <a:txBody>
                    <a:bodyPr/>
                    <a:lstStyle/>
                    <a:p>
                      <a:pPr marL="0" indent="0" algn="ctr">
                        <a:buNone/>
                      </a:pPr>
                      <a:r>
                        <a:rPr lang="en-US" sz="1100" b="1" dirty="0">
                          <a:solidFill>
                            <a:schemeClr val="bg1"/>
                          </a:solidFill>
                        </a:rPr>
                        <a:t>Respuestas habladas / día</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tc>
                  <a:txBody>
                    <a:bodyPr/>
                    <a:lstStyle/>
                    <a:p>
                      <a:pPr marL="0" indent="0" algn="ctr">
                        <a:buNone/>
                      </a:pPr>
                      <a:r>
                        <a:rPr lang="en-US" sz="1100" b="1" dirty="0">
                          <a:solidFill>
                            <a:schemeClr val="bg1"/>
                          </a:solidFill>
                        </a:rPr>
                        <a:t>Caracteres / respuesta (aprox.)</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tc>
                  <a:txBody>
                    <a:bodyPr/>
                    <a:lstStyle/>
                    <a:p>
                      <a:pPr marL="0" indent="0" algn="ctr">
                        <a:buNone/>
                      </a:pPr>
                      <a:r>
                        <a:rPr lang="en-US" sz="1100" b="1" dirty="0">
                          <a:solidFill>
                            <a:schemeClr val="bg1"/>
                          </a:solidFill>
                        </a:rPr>
                        <a:t>Coste ElevenLabs / mes</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396240">
                <a:tc>
                  <a:txBody>
                    <a:bodyPr/>
                    <a:lstStyle/>
                    <a:p>
                      <a:pPr marL="0" indent="0" algn="l">
                        <a:buNone/>
                      </a:pPr>
                      <a:r>
                        <a:rPr lang="en-US" sz="1100" dirty="0">
                          <a:solidFill>
                            <a:schemeClr val="tx1"/>
                          </a:solidFill>
                        </a:rPr>
                        <a:t>Ocasional — activa el audio en algunas respuestas</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5</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 300</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1,18 €</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96240">
                <a:tc>
                  <a:txBody>
                    <a:bodyPr/>
                    <a:lstStyle/>
                    <a:p>
                      <a:pPr marL="0" indent="0" algn="l">
                        <a:buNone/>
                      </a:pPr>
                      <a:r>
                        <a:rPr lang="en-US" sz="1100" dirty="0">
                          <a:solidFill>
                            <a:schemeClr val="tx1"/>
                          </a:solidFill>
                        </a:rPr>
                        <a:t>Intensivo — usa el audio como canal principal</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30</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 400</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9,42 €</a:t>
                      </a:r>
                      <a:endParaRPr lang="en-US" sz="11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bl>
          </a:graphicData>
        </a:graphic>
      </p:graphicFrame>
      <p:sp>
        <p:nvSpPr>
          <p:cNvPr id="18" name="Shape 15"/>
          <p:cNvSpPr/>
          <p:nvPr/>
        </p:nvSpPr>
        <p:spPr>
          <a:xfrm>
            <a:off x="548640" y="4526280"/>
            <a:ext cx="11064240" cy="1417320"/>
          </a:xfrm>
          <a:prstGeom prst="roundRect">
            <a:avLst>
              <a:gd name="adj" fmla="val 5161"/>
            </a:avLst>
          </a:prstGeom>
          <a:solidFill>
            <a:schemeClr val="accent6"/>
          </a:solidFill>
          <a:ln/>
        </p:spPr>
      </p:sp>
      <p:sp>
        <p:nvSpPr>
          <p:cNvPr id="19" name="Text 16"/>
          <p:cNvSpPr txBox="1"/>
          <p:nvPr/>
        </p:nvSpPr>
        <p:spPr>
          <a:xfrm>
            <a:off x="777240" y="4526280"/>
            <a:ext cx="10607040" cy="1417320"/>
          </a:xfrm>
          <a:prstGeom prst="rect">
            <a:avLst/>
          </a:prstGeom>
          <a:noFill/>
          <a:ln/>
        </p:spPr>
        <p:txBody>
          <a:bodyPr wrap="square" lIns="0" tIns="0" rIns="0" bIns="0" rtlCol="0" anchor="ctr"/>
          <a:lstStyle/>
          <a:p>
            <a:pPr marL="0" indent="0">
              <a:buNone/>
            </a:pPr>
            <a:r>
              <a:rPr lang="en-US" sz="1150" b="1" dirty="0">
                <a:solidFill>
                  <a:schemeClr val="accent5"/>
                </a:solidFill>
                <a:latin typeface="Calibri" pitchFamily="34" charset="0"/>
                <a:ea typeface="Calibri" pitchFamily="34" charset="-122"/>
                <a:cs typeface="Calibri" pitchFamily="34" charset="-120"/>
              </a:rPr>
              <a:t>Modelo de facturación real:  </a:t>
            </a:r>
            <a:r>
              <a:rPr lang="en-US" sz="1150" dirty="0">
                <a:solidFill>
                  <a:schemeClr val="accent5"/>
                </a:solidFill>
                <a:latin typeface="Calibri" pitchFamily="34" charset="0"/>
                <a:ea typeface="Calibri" pitchFamily="34" charset="-122"/>
                <a:cs typeface="Calibri" pitchFamily="34" charset="-120"/>
              </a:rPr>
              <a:t>mIA llama directamente a la API de ElevenLabs con una clave propia (MIA_VOICE__API_KEY), sin pasar por un plan de suscripción — el pago por uso ya es el modelo aplicable hoy. Los planes Creator/Pro se muestran solo como referencia: ElevenLabs no documenta públicamente la equivalencia exacta entre créditos y caracteres por modelo, así que conviene confirmar con su equipo comercial antes de contratar uno si el volumen de voz crece mucho.</a:t>
            </a:r>
            <a:endParaRPr lang="en-US" sz="1150" dirty="0"/>
          </a:p>
        </p:txBody>
      </p:sp>
      <p:sp>
        <p:nvSpPr>
          <p:cNvPr id="20" name="Text 17"/>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000" dirty="0">
                <a:solidFill>
                  <a:schemeClr val="accent6"/>
                </a:solidFill>
                <a:latin typeface="Calibri" pitchFamily="34" charset="0"/>
                <a:ea typeface="Calibri" pitchFamily="34" charset="-122"/>
                <a:cs typeface="Calibri" pitchFamily="34" charset="-120"/>
              </a:rPr>
              <a:t>mIA · Estimación de costes en Azure (producción)</a:t>
            </a:r>
            <a:endParaRPr lang="en-US" sz="1000" dirty="0"/>
          </a:p>
        </p:txBody>
      </p:sp>
      <p:sp>
        <p:nvSpPr>
          <p:cNvPr id="21" name="Text 1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1000" dirty="0">
                <a:solidFill>
                  <a:schemeClr val="accent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300" b="1" kern="0" spc="150" dirty="0">
                <a:solidFill>
                  <a:schemeClr val="accent1"/>
                </a:solidFill>
                <a:latin typeface="Calibri" pitchFamily="34" charset="0"/>
                <a:ea typeface="Calibri" pitchFamily="34" charset="-122"/>
                <a:cs typeface="Calibri" pitchFamily="34" charset="-120"/>
              </a:rPr>
              <a:t>SERVICIOS PLANIFICADOS — NO DESPLEGADOS HOY</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Azure AI Search y Azure Machine Learning</a:t>
            </a:r>
            <a:endParaRPr lang="en-US" sz="2800" dirty="0"/>
          </a:p>
        </p:txBody>
      </p:sp>
      <p:sp>
        <p:nvSpPr>
          <p:cNvPr id="4" name="Shape 2"/>
          <p:cNvSpPr/>
          <p:nvPr/>
        </p:nvSpPr>
        <p:spPr>
          <a:xfrm>
            <a:off x="548640" y="1600200"/>
            <a:ext cx="11064240" cy="566928"/>
          </a:xfrm>
          <a:prstGeom prst="roundRect">
            <a:avLst>
              <a:gd name="adj" fmla="val 12903"/>
            </a:avLst>
          </a:prstGeom>
          <a:solidFill>
            <a:schemeClr val="accent5"/>
          </a:solidFill>
          <a:ln/>
        </p:spPr>
      </p:sp>
      <p:sp>
        <p:nvSpPr>
          <p:cNvPr id="5" name="Text 3"/>
          <p:cNvSpPr txBox="1"/>
          <p:nvPr/>
        </p:nvSpPr>
        <p:spPr>
          <a:xfrm>
            <a:off x="777240" y="1600200"/>
            <a:ext cx="10607040" cy="566928"/>
          </a:xfrm>
          <a:prstGeom prst="rect">
            <a:avLst/>
          </a:prstGeom>
          <a:noFill/>
          <a:ln/>
        </p:spPr>
        <p:txBody>
          <a:bodyPr wrap="square" lIns="0" tIns="0" rIns="0" bIns="0" rtlCol="0" anchor="ctr"/>
          <a:lstStyle/>
          <a:p>
            <a:pPr marL="0" indent="0">
              <a:buNone/>
            </a:pPr>
            <a:r>
              <a:rPr lang="en-US" sz="1150" b="1" dirty="0">
                <a:solidFill>
                  <a:schemeClr val="bg1"/>
                </a:solidFill>
                <a:latin typeface="Calibri" pitchFamily="34" charset="0"/>
                <a:ea typeface="Calibri" pitchFamily="34" charset="-122"/>
                <a:cs typeface="Calibri" pitchFamily="34" charset="-120"/>
              </a:rPr>
              <a:t>Según docs/mIA_catalogo_integraciones.md §2.8: ambos tienen solo un contrato de interfaz vacío (NotImplementedError), sin SDK, credencial ni referencia en infra/main.bicep. Coste real actual: 0 €/mes — no suman al total de 72 €/mes de la infraestructura.</a:t>
            </a:r>
            <a:endParaRPr lang="en-US" sz="1150" dirty="0"/>
          </a:p>
        </p:txBody>
      </p:sp>
      <p:sp>
        <p:nvSpPr>
          <p:cNvPr id="6" name="Shape 4"/>
          <p:cNvSpPr/>
          <p:nvPr/>
        </p:nvSpPr>
        <p:spPr>
          <a:xfrm>
            <a:off x="548640" y="2377440"/>
            <a:ext cx="5440680" cy="3657600"/>
          </a:xfrm>
          <a:prstGeom prst="roundRect">
            <a:avLst>
              <a:gd name="adj" fmla="val 2000"/>
            </a:avLst>
          </a:prstGeom>
          <a:solidFill>
            <a:schemeClr val="bg2"/>
          </a:solidFill>
          <a:ln/>
        </p:spPr>
      </p:sp>
      <p:sp>
        <p:nvSpPr>
          <p:cNvPr id="7" name="Shape 5"/>
          <p:cNvSpPr/>
          <p:nvPr/>
        </p:nvSpPr>
        <p:spPr>
          <a:xfrm>
            <a:off x="822960" y="2651760"/>
            <a:ext cx="585216" cy="585216"/>
          </a:xfrm>
          <a:prstGeom prst="ellipse">
            <a:avLst/>
          </a:prstGeom>
          <a:solidFill>
            <a:schemeClr val="accent1"/>
          </a:solidFill>
          <a:ln/>
        </p:spPr>
      </p:sp>
      <p:pic>
        <p:nvPicPr>
          <p:cNvPr id="8" name="Image 0" descr="preencoded.png"/>
          <p:cNvPicPr>
            <a:picLocks noChangeAspect="1"/>
          </p:cNvPicPr>
          <p:nvPr/>
        </p:nvPicPr>
        <p:blipFill>
          <a:blip r:embed="rId3"/>
          <a:stretch>
            <a:fillRect/>
          </a:stretch>
        </p:blipFill>
        <p:spPr>
          <a:xfrm>
            <a:off x="975116" y="2803916"/>
            <a:ext cx="280904" cy="280904"/>
          </a:xfrm>
          <a:prstGeom prst="rect">
            <a:avLst/>
          </a:prstGeom>
        </p:spPr>
      </p:pic>
      <p:sp>
        <p:nvSpPr>
          <p:cNvPr id="9" name="Text 6"/>
          <p:cNvSpPr txBox="1"/>
          <p:nvPr/>
        </p:nvSpPr>
        <p:spPr>
          <a:xfrm>
            <a:off x="1554480" y="2697480"/>
            <a:ext cx="4206240"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Azure AI Search</a:t>
            </a:r>
            <a:endParaRPr lang="en-US" sz="1800" dirty="0"/>
          </a:p>
        </p:txBody>
      </p:sp>
      <p:sp>
        <p:nvSpPr>
          <p:cNvPr id="10" name="Text 7"/>
          <p:cNvSpPr txBox="1"/>
          <p:nvPr/>
        </p:nvSpPr>
        <p:spPr>
          <a:xfrm>
            <a:off x="822960" y="3337560"/>
            <a:ext cx="4892040" cy="685800"/>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Para qué serviría: búsqueda semántica/vectorial gestionada (hoy esa función la cubre pgvector dentro de la misma PostgreSQL, sin coste adicional).</a:t>
            </a:r>
            <a:endParaRPr lang="en-US" sz="1150" dirty="0"/>
          </a:p>
        </p:txBody>
      </p:sp>
      <p:sp>
        <p:nvSpPr>
          <p:cNvPr id="11" name="Shape 8"/>
          <p:cNvSpPr/>
          <p:nvPr/>
        </p:nvSpPr>
        <p:spPr>
          <a:xfrm>
            <a:off x="822960" y="4114800"/>
            <a:ext cx="4892040" cy="713232"/>
          </a:xfrm>
          <a:prstGeom prst="roundRect">
            <a:avLst>
              <a:gd name="adj" fmla="val 7692"/>
            </a:avLst>
          </a:prstGeom>
          <a:solidFill>
            <a:schemeClr val="bg1"/>
          </a:solidFill>
          <a:ln/>
        </p:spPr>
      </p:sp>
      <p:sp>
        <p:nvSpPr>
          <p:cNvPr id="12" name="Text 9"/>
          <p:cNvSpPr txBox="1"/>
          <p:nvPr/>
        </p:nvSpPr>
        <p:spPr>
          <a:xfrm>
            <a:off x="1005840" y="4187952"/>
            <a:ext cx="1463040" cy="274320"/>
          </a:xfrm>
          <a:prstGeom prst="rect">
            <a:avLst/>
          </a:prstGeom>
          <a:noFill/>
          <a:ln/>
        </p:spPr>
        <p:txBody>
          <a:bodyPr wrap="square" lIns="0" tIns="0" rIns="0" bIns="0" rtlCol="0" anchor="ctr"/>
          <a:lstStyle/>
          <a:p>
            <a:pPr marL="0" indent="0">
              <a:buNone/>
            </a:pPr>
            <a:r>
              <a:rPr lang="en-US" sz="1200" b="1" dirty="0">
                <a:solidFill>
                  <a:schemeClr val="accent1"/>
                </a:solidFill>
                <a:latin typeface="Calibri" pitchFamily="34" charset="0"/>
                <a:ea typeface="Calibri" pitchFamily="34" charset="-122"/>
                <a:cs typeface="Calibri" pitchFamily="34" charset="-120"/>
              </a:rPr>
              <a:t>Free</a:t>
            </a:r>
            <a:endParaRPr lang="en-US" sz="1200" dirty="0"/>
          </a:p>
        </p:txBody>
      </p:sp>
      <p:sp>
        <p:nvSpPr>
          <p:cNvPr id="13" name="Text 10"/>
          <p:cNvSpPr txBox="1"/>
          <p:nvPr/>
        </p:nvSpPr>
        <p:spPr>
          <a:xfrm>
            <a:off x="1005840" y="4480560"/>
            <a:ext cx="3017520" cy="292608"/>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50 MB, 3 índices — solo prototipos</a:t>
            </a:r>
            <a:endParaRPr lang="en-US" sz="1000" dirty="0"/>
          </a:p>
        </p:txBody>
      </p:sp>
      <p:sp>
        <p:nvSpPr>
          <p:cNvPr id="14" name="Text 11"/>
          <p:cNvSpPr txBox="1"/>
          <p:nvPr/>
        </p:nvSpPr>
        <p:spPr>
          <a:xfrm>
            <a:off x="4069080" y="4114800"/>
            <a:ext cx="1600200" cy="713232"/>
          </a:xfrm>
          <a:prstGeom prst="rect">
            <a:avLst/>
          </a:prstGeom>
          <a:noFill/>
          <a:ln/>
        </p:spPr>
        <p:txBody>
          <a:bodyPr wrap="square" lIns="0" tIns="0" rIns="0" bIns="0" rtlCol="0" anchor="ctr"/>
          <a:lstStyle/>
          <a:p>
            <a:pPr marL="0" indent="0" algn="r">
              <a:buNone/>
            </a:pPr>
            <a:r>
              <a:rPr lang="en-US" sz="1400" b="1" dirty="0">
                <a:solidFill>
                  <a:schemeClr val="tx1"/>
                </a:solidFill>
                <a:latin typeface="Cambria" pitchFamily="34" charset="0"/>
                <a:ea typeface="Cambria" pitchFamily="34" charset="-122"/>
                <a:cs typeface="Cambria" pitchFamily="34" charset="-120"/>
              </a:rPr>
              <a:t>0 €/mes</a:t>
            </a:r>
            <a:endParaRPr lang="en-US" sz="1400" dirty="0"/>
          </a:p>
        </p:txBody>
      </p:sp>
      <p:sp>
        <p:nvSpPr>
          <p:cNvPr id="15" name="Shape 12"/>
          <p:cNvSpPr/>
          <p:nvPr/>
        </p:nvSpPr>
        <p:spPr>
          <a:xfrm>
            <a:off x="822960" y="4956048"/>
            <a:ext cx="4892040" cy="713232"/>
          </a:xfrm>
          <a:prstGeom prst="roundRect">
            <a:avLst>
              <a:gd name="adj" fmla="val 7692"/>
            </a:avLst>
          </a:prstGeom>
          <a:solidFill>
            <a:schemeClr val="bg1"/>
          </a:solidFill>
          <a:ln/>
        </p:spPr>
      </p:sp>
      <p:sp>
        <p:nvSpPr>
          <p:cNvPr id="16" name="Text 13"/>
          <p:cNvSpPr txBox="1"/>
          <p:nvPr/>
        </p:nvSpPr>
        <p:spPr>
          <a:xfrm>
            <a:off x="1005840" y="5029200"/>
            <a:ext cx="1463040" cy="274320"/>
          </a:xfrm>
          <a:prstGeom prst="rect">
            <a:avLst/>
          </a:prstGeom>
          <a:noFill/>
          <a:ln/>
        </p:spPr>
        <p:txBody>
          <a:bodyPr wrap="square" lIns="0" tIns="0" rIns="0" bIns="0" rtlCol="0" anchor="ctr"/>
          <a:lstStyle/>
          <a:p>
            <a:pPr marL="0" indent="0">
              <a:buNone/>
            </a:pPr>
            <a:r>
              <a:rPr lang="en-US" sz="1200" b="1" dirty="0">
                <a:solidFill>
                  <a:schemeClr val="accent1"/>
                </a:solidFill>
                <a:latin typeface="Calibri" pitchFamily="34" charset="0"/>
                <a:ea typeface="Calibri" pitchFamily="34" charset="-122"/>
                <a:cs typeface="Calibri" pitchFamily="34" charset="-120"/>
              </a:rPr>
              <a:t>Basic</a:t>
            </a:r>
            <a:endParaRPr lang="en-US" sz="1200" dirty="0"/>
          </a:p>
        </p:txBody>
      </p:sp>
      <p:sp>
        <p:nvSpPr>
          <p:cNvPr id="17" name="Text 14"/>
          <p:cNvSpPr txBox="1"/>
          <p:nvPr/>
        </p:nvSpPr>
        <p:spPr>
          <a:xfrm>
            <a:off x="1005840" y="5321808"/>
            <a:ext cx="3017520" cy="292608"/>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15 GB, 100 índices (0,0889 €/hora)</a:t>
            </a:r>
            <a:endParaRPr lang="en-US" sz="1000" dirty="0"/>
          </a:p>
        </p:txBody>
      </p:sp>
      <p:sp>
        <p:nvSpPr>
          <p:cNvPr id="18" name="Text 15"/>
          <p:cNvSpPr txBox="1"/>
          <p:nvPr/>
        </p:nvSpPr>
        <p:spPr>
          <a:xfrm>
            <a:off x="4069080" y="4956048"/>
            <a:ext cx="1600200" cy="713232"/>
          </a:xfrm>
          <a:prstGeom prst="rect">
            <a:avLst/>
          </a:prstGeom>
          <a:noFill/>
          <a:ln/>
        </p:spPr>
        <p:txBody>
          <a:bodyPr wrap="square" lIns="0" tIns="0" rIns="0" bIns="0" rtlCol="0" anchor="ctr"/>
          <a:lstStyle/>
          <a:p>
            <a:pPr marL="0" indent="0" algn="r">
              <a:buNone/>
            </a:pPr>
            <a:r>
              <a:rPr lang="en-US" sz="1400" b="1" dirty="0">
                <a:solidFill>
                  <a:schemeClr val="tx1"/>
                </a:solidFill>
                <a:latin typeface="Cambria" pitchFamily="34" charset="0"/>
                <a:ea typeface="Cambria" pitchFamily="34" charset="-122"/>
                <a:cs typeface="Cambria" pitchFamily="34" charset="-120"/>
              </a:rPr>
              <a:t>64,90 €/mes</a:t>
            </a:r>
            <a:endParaRPr lang="en-US" sz="1400" dirty="0"/>
          </a:p>
        </p:txBody>
      </p:sp>
      <p:sp>
        <p:nvSpPr>
          <p:cNvPr id="19" name="Shape 16"/>
          <p:cNvSpPr/>
          <p:nvPr/>
        </p:nvSpPr>
        <p:spPr>
          <a:xfrm>
            <a:off x="6172200" y="2377440"/>
            <a:ext cx="5440680" cy="3657600"/>
          </a:xfrm>
          <a:prstGeom prst="roundRect">
            <a:avLst>
              <a:gd name="adj" fmla="val 2000"/>
            </a:avLst>
          </a:prstGeom>
          <a:solidFill>
            <a:schemeClr val="bg2"/>
          </a:solidFill>
          <a:ln/>
        </p:spPr>
      </p:sp>
      <p:sp>
        <p:nvSpPr>
          <p:cNvPr id="20" name="Shape 17"/>
          <p:cNvSpPr/>
          <p:nvPr/>
        </p:nvSpPr>
        <p:spPr>
          <a:xfrm>
            <a:off x="6446520" y="2651760"/>
            <a:ext cx="585216" cy="585216"/>
          </a:xfrm>
          <a:prstGeom prst="ellipse">
            <a:avLst/>
          </a:prstGeom>
          <a:solidFill>
            <a:schemeClr val="accent3"/>
          </a:solidFill>
          <a:ln/>
        </p:spPr>
      </p:sp>
      <p:pic>
        <p:nvPicPr>
          <p:cNvPr id="21" name="Image 1" descr="preencoded.png"/>
          <p:cNvPicPr>
            <a:picLocks noChangeAspect="1"/>
          </p:cNvPicPr>
          <p:nvPr/>
        </p:nvPicPr>
        <p:blipFill>
          <a:blip r:embed="rId4"/>
          <a:stretch>
            <a:fillRect/>
          </a:stretch>
        </p:blipFill>
        <p:spPr>
          <a:xfrm>
            <a:off x="6598676" y="2803916"/>
            <a:ext cx="280904" cy="280904"/>
          </a:xfrm>
          <a:prstGeom prst="rect">
            <a:avLst/>
          </a:prstGeom>
        </p:spPr>
      </p:pic>
      <p:sp>
        <p:nvSpPr>
          <p:cNvPr id="22" name="Text 18"/>
          <p:cNvSpPr txBox="1"/>
          <p:nvPr/>
        </p:nvSpPr>
        <p:spPr>
          <a:xfrm>
            <a:off x="7178040" y="2697480"/>
            <a:ext cx="4206240"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Azure Machine Learning</a:t>
            </a:r>
            <a:endParaRPr lang="en-US" sz="1800" dirty="0"/>
          </a:p>
        </p:txBody>
      </p:sp>
      <p:sp>
        <p:nvSpPr>
          <p:cNvPr id="23" name="Text 19"/>
          <p:cNvSpPr txBox="1"/>
          <p:nvPr/>
        </p:nvSpPr>
        <p:spPr>
          <a:xfrm>
            <a:off x="6446520" y="3337560"/>
            <a:ext cx="4892040" cy="685800"/>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Para qué serviría: entrenar y servir los modelos predictivos del subsistema de analítica (aún aspiracional, sin paquete de código hoy).</a:t>
            </a:r>
            <a:endParaRPr lang="en-US" sz="1150" dirty="0"/>
          </a:p>
        </p:txBody>
      </p:sp>
      <p:sp>
        <p:nvSpPr>
          <p:cNvPr id="24" name="Shape 20"/>
          <p:cNvSpPr/>
          <p:nvPr/>
        </p:nvSpPr>
        <p:spPr>
          <a:xfrm>
            <a:off x="6446520" y="4114800"/>
            <a:ext cx="4892040" cy="713232"/>
          </a:xfrm>
          <a:prstGeom prst="roundRect">
            <a:avLst>
              <a:gd name="adj" fmla="val 7692"/>
            </a:avLst>
          </a:prstGeom>
          <a:solidFill>
            <a:schemeClr val="bg1"/>
          </a:solidFill>
          <a:ln/>
        </p:spPr>
      </p:sp>
      <p:sp>
        <p:nvSpPr>
          <p:cNvPr id="25" name="Text 21"/>
          <p:cNvSpPr txBox="1"/>
          <p:nvPr/>
        </p:nvSpPr>
        <p:spPr>
          <a:xfrm>
            <a:off x="6629400" y="4187952"/>
            <a:ext cx="2011680" cy="274320"/>
          </a:xfrm>
          <a:prstGeom prst="rect">
            <a:avLst/>
          </a:prstGeom>
          <a:noFill/>
          <a:ln/>
        </p:spPr>
        <p:txBody>
          <a:bodyPr wrap="square" lIns="0" tIns="0" rIns="0" bIns="0" rtlCol="0" anchor="ctr"/>
          <a:lstStyle/>
          <a:p>
            <a:pPr marL="0" indent="0">
              <a:buNone/>
            </a:pPr>
            <a:r>
              <a:rPr lang="en-US" sz="1200" b="1" dirty="0">
                <a:solidFill>
                  <a:schemeClr val="accent3"/>
                </a:solidFill>
                <a:latin typeface="Calibri" pitchFamily="34" charset="0"/>
                <a:ea typeface="Calibri" pitchFamily="34" charset="-122"/>
                <a:cs typeface="Calibri" pitchFamily="34" charset="-120"/>
              </a:rPr>
              <a:t>Workspace</a:t>
            </a:r>
            <a:endParaRPr lang="en-US" sz="1200" dirty="0"/>
          </a:p>
        </p:txBody>
      </p:sp>
      <p:sp>
        <p:nvSpPr>
          <p:cNvPr id="26" name="Text 22"/>
          <p:cNvSpPr txBox="1"/>
          <p:nvPr/>
        </p:nvSpPr>
        <p:spPr>
          <a:xfrm>
            <a:off x="6629400" y="4480560"/>
            <a:ext cx="3017520" cy="292608"/>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El workspace no tiene coste propio</a:t>
            </a:r>
            <a:endParaRPr lang="en-US" sz="1000" dirty="0"/>
          </a:p>
        </p:txBody>
      </p:sp>
      <p:sp>
        <p:nvSpPr>
          <p:cNvPr id="27" name="Text 23"/>
          <p:cNvSpPr txBox="1"/>
          <p:nvPr/>
        </p:nvSpPr>
        <p:spPr>
          <a:xfrm>
            <a:off x="9464040" y="4114800"/>
            <a:ext cx="1828800" cy="713232"/>
          </a:xfrm>
          <a:prstGeom prst="rect">
            <a:avLst/>
          </a:prstGeom>
          <a:noFill/>
          <a:ln/>
        </p:spPr>
        <p:txBody>
          <a:bodyPr wrap="square" lIns="0" tIns="0" rIns="0" bIns="0" rtlCol="0" anchor="ctr"/>
          <a:lstStyle/>
          <a:p>
            <a:pPr marL="0" indent="0" algn="r">
              <a:buNone/>
            </a:pPr>
            <a:r>
              <a:rPr lang="en-US" sz="1350" b="1" dirty="0">
                <a:solidFill>
                  <a:schemeClr val="tx1"/>
                </a:solidFill>
                <a:latin typeface="Cambria" pitchFamily="34" charset="0"/>
                <a:ea typeface="Cambria" pitchFamily="34" charset="-122"/>
                <a:cs typeface="Cambria" pitchFamily="34" charset="-120"/>
              </a:rPr>
              <a:t>0 €/mes</a:t>
            </a:r>
            <a:endParaRPr lang="en-US" sz="1350" dirty="0"/>
          </a:p>
        </p:txBody>
      </p:sp>
      <p:sp>
        <p:nvSpPr>
          <p:cNvPr id="28" name="Shape 24"/>
          <p:cNvSpPr/>
          <p:nvPr/>
        </p:nvSpPr>
        <p:spPr>
          <a:xfrm>
            <a:off x="6446520" y="4956048"/>
            <a:ext cx="4892040" cy="713232"/>
          </a:xfrm>
          <a:prstGeom prst="roundRect">
            <a:avLst>
              <a:gd name="adj" fmla="val 7692"/>
            </a:avLst>
          </a:prstGeom>
          <a:solidFill>
            <a:schemeClr val="bg1"/>
          </a:solidFill>
          <a:ln/>
        </p:spPr>
      </p:sp>
      <p:sp>
        <p:nvSpPr>
          <p:cNvPr id="29" name="Text 25"/>
          <p:cNvSpPr txBox="1"/>
          <p:nvPr/>
        </p:nvSpPr>
        <p:spPr>
          <a:xfrm>
            <a:off x="6629400" y="5029200"/>
            <a:ext cx="2011680" cy="274320"/>
          </a:xfrm>
          <a:prstGeom prst="rect">
            <a:avLst/>
          </a:prstGeom>
          <a:noFill/>
          <a:ln/>
        </p:spPr>
        <p:txBody>
          <a:bodyPr wrap="square" lIns="0" tIns="0" rIns="0" bIns="0" rtlCol="0" anchor="ctr"/>
          <a:lstStyle/>
          <a:p>
            <a:pPr marL="0" indent="0">
              <a:buNone/>
            </a:pPr>
            <a:r>
              <a:rPr lang="en-US" sz="1200" b="1" dirty="0">
                <a:solidFill>
                  <a:schemeClr val="accent3"/>
                </a:solidFill>
                <a:latin typeface="Calibri" pitchFamily="34" charset="0"/>
                <a:ea typeface="Calibri" pitchFamily="34" charset="-122"/>
                <a:cs typeface="Calibri" pitchFamily="34" charset="-120"/>
              </a:rPr>
              <a:t>Cómputo DS3 v2</a:t>
            </a:r>
            <a:endParaRPr lang="en-US" sz="1200" dirty="0"/>
          </a:p>
        </p:txBody>
      </p:sp>
      <p:sp>
        <p:nvSpPr>
          <p:cNvPr id="30" name="Text 26"/>
          <p:cNvSpPr txBox="1"/>
          <p:nvPr/>
        </p:nvSpPr>
        <p:spPr>
          <a:xfrm>
            <a:off x="6629400" y="5321808"/>
            <a:ext cx="3017520" cy="292608"/>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0,2394 €/h — según horas de uso</a:t>
            </a:r>
            <a:endParaRPr lang="en-US" sz="1000" dirty="0"/>
          </a:p>
        </p:txBody>
      </p:sp>
      <p:sp>
        <p:nvSpPr>
          <p:cNvPr id="31" name="Text 27"/>
          <p:cNvSpPr txBox="1"/>
          <p:nvPr/>
        </p:nvSpPr>
        <p:spPr>
          <a:xfrm>
            <a:off x="9464040" y="4956048"/>
            <a:ext cx="1828800" cy="713232"/>
          </a:xfrm>
          <a:prstGeom prst="rect">
            <a:avLst/>
          </a:prstGeom>
          <a:noFill/>
          <a:ln/>
        </p:spPr>
        <p:txBody>
          <a:bodyPr wrap="square" lIns="0" tIns="0" rIns="0" bIns="0" rtlCol="0" anchor="ctr"/>
          <a:lstStyle/>
          <a:p>
            <a:pPr marL="0" indent="0" algn="r">
              <a:buNone/>
            </a:pPr>
            <a:r>
              <a:rPr lang="en-US" sz="1350" b="1" dirty="0">
                <a:solidFill>
                  <a:schemeClr val="tx1"/>
                </a:solidFill>
                <a:latin typeface="Cambria" pitchFamily="34" charset="0"/>
                <a:ea typeface="Cambria" pitchFamily="34" charset="-122"/>
                <a:cs typeface="Cambria" pitchFamily="34" charset="-120"/>
              </a:rPr>
              <a:t>11-42 €/mes</a:t>
            </a:r>
            <a:endParaRPr lang="en-US" sz="1350" dirty="0"/>
          </a:p>
        </p:txBody>
      </p:sp>
      <p:sp>
        <p:nvSpPr>
          <p:cNvPr id="32" name="Text 28"/>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000" dirty="0">
                <a:solidFill>
                  <a:schemeClr val="accent6"/>
                </a:solidFill>
                <a:latin typeface="Calibri" pitchFamily="34" charset="0"/>
                <a:ea typeface="Calibri" pitchFamily="34" charset="-122"/>
                <a:cs typeface="Calibri" pitchFamily="34" charset="-120"/>
              </a:rPr>
              <a:t>mIA · Estimación de costes en Azure (producción)</a:t>
            </a:r>
            <a:endParaRPr lang="en-US" sz="1000" dirty="0"/>
          </a:p>
        </p:txBody>
      </p:sp>
      <p:sp>
        <p:nvSpPr>
          <p:cNvPr id="33" name="Text 29"/>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1000" dirty="0">
                <a:solidFill>
                  <a:schemeClr val="accent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300" b="1" kern="0" spc="150" dirty="0">
                <a:solidFill>
                  <a:schemeClr val="accent1"/>
                </a:solidFill>
                <a:latin typeface="Calibri" pitchFamily="34" charset="0"/>
                <a:ea typeface="Calibri" pitchFamily="34" charset="-122"/>
                <a:cs typeface="Calibri" pitchFamily="34" charset="-120"/>
              </a:rPr>
              <a:t>CASOS DE USO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De 1 a 10 usuarios: cuatro escenarios reales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794760"/>
        </p:xfrm>
        <a:graphic>
          <a:graphicData uri="http://schemas.openxmlformats.org/drawingml/2006/table">
            <a:tbl>
              <a:tblPr/>
              <a:tblGrid>
                <a:gridCol w="214884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tblGrid>
              <a:tr h="502920">
                <a:tc>
                  <a:txBody>
                    <a:bodyPr/>
                    <a:lstStyle/>
                    <a:p>
                      <a:pPr marL="0" indent="0" algn="ctr">
                        <a:buNone/>
                      </a:pPr>
                      <a:r>
                        <a:rPr lang="en-US" sz="1150" b="1" dirty="0">
                          <a:solidFill>
                            <a:schemeClr val="bg1"/>
                          </a:solidFill>
                        </a:rPr>
                        <a:t>Escenario</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50" b="1" dirty="0">
                          <a:solidFill>
                            <a:schemeClr val="bg1"/>
                          </a:solidFill>
                        </a:rPr>
                        <a:t>Usuarios</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50" b="1" dirty="0">
                          <a:solidFill>
                            <a:schemeClr val="bg1"/>
                          </a:solidFill>
                        </a:rPr>
                        <a:t>Mezcla de perfiles</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50" b="1" dirty="0">
                          <a:solidFill>
                            <a:schemeClr val="bg1"/>
                          </a:solidFill>
                        </a:rPr>
                        <a:t>Azure</a:t>
                      </a:r>
                      <a:endParaRPr lang="en-US" sz="1150" dirty="0"/>
                    </a:p>
                    <a:p>
                      <a:pPr marL="0" indent="0" algn="ctr">
                        <a:buNone/>
                      </a:pPr>
                      <a:r>
                        <a:rPr lang="en-US" sz="1150" b="1" dirty="0">
                          <a:solidFill>
                            <a:schemeClr val="bg1"/>
                          </a:solidFill>
                        </a:rPr>
                        <a:t>(infra)</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50" b="1" dirty="0">
                          <a:solidFill>
                            <a:schemeClr val="bg1"/>
                          </a:solidFill>
                        </a:rPr>
                        <a:t>LLM</a:t>
                      </a:r>
                      <a:endParaRPr lang="en-US" sz="1150" dirty="0"/>
                    </a:p>
                    <a:p>
                      <a:pPr marL="0" indent="0" algn="ctr">
                        <a:buNone/>
                      </a:pPr>
                      <a:r>
                        <a:rPr lang="en-US" sz="1150" b="1" dirty="0">
                          <a:solidFill>
                            <a:schemeClr val="bg1"/>
                          </a:solidFill>
                        </a:rPr>
                        <a:t>GPT-4.1</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50" b="1" dirty="0">
                          <a:solidFill>
                            <a:schemeClr val="bg1"/>
                          </a:solidFill>
                        </a:rPr>
                        <a:t>Voz</a:t>
                      </a:r>
                      <a:endParaRPr lang="en-US" sz="1150" dirty="0"/>
                    </a:p>
                    <a:p>
                      <a:pPr marL="0" indent="0" algn="ctr">
                        <a:buNone/>
                      </a:pPr>
                      <a:r>
                        <a:rPr lang="en-US" sz="1150" b="1" dirty="0">
                          <a:solidFill>
                            <a:schemeClr val="bg1"/>
                          </a:solidFill>
                        </a:rPr>
                        <a:t>ElevenLabs</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marL="0" indent="0" algn="ctr">
                        <a:buNone/>
                      </a:pPr>
                      <a:r>
                        <a:rPr lang="en-US" sz="1150" b="1" dirty="0">
                          <a:solidFill>
                            <a:schemeClr val="bg1"/>
                          </a:solidFill>
                        </a:rPr>
                        <a:t>Total / mes</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822960">
                <a:tc>
                  <a:txBody>
                    <a:bodyPr/>
                    <a:lstStyle/>
                    <a:p>
                      <a:pPr marL="0" indent="0" algn="l">
                        <a:buNone/>
                      </a:pPr>
                      <a:r>
                        <a:rPr lang="en-US" sz="1150" b="1" dirty="0">
                          <a:solidFill>
                            <a:schemeClr val="tx1"/>
                          </a:solidFill>
                        </a:rPr>
                        <a:t>1 usuario · ligero (texto)</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rPr>
                        <a:t>1</a:t>
                      </a: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l">
                        <a:buNone/>
                      </a:pPr>
                      <a:r>
                        <a:rPr lang="en-US" sz="1050" dirty="0">
                          <a:solidFill>
                            <a:schemeClr val="accent5"/>
                          </a:solidFill>
                        </a:rPr>
                        <a:t>1 ligero</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50" dirty="0">
                          <a:solidFill>
                            <a:schemeClr val="tx1"/>
                          </a:solidFill>
                        </a:rPr>
                        <a:t>72,00 €</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50" dirty="0">
                          <a:solidFill>
                            <a:schemeClr val="tx1"/>
                          </a:solidFill>
                        </a:rPr>
                        <a:t>0,70 €</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50" dirty="0">
                          <a:solidFill>
                            <a:schemeClr val="tx1"/>
                          </a:solidFill>
                        </a:rPr>
                        <a:t>0,00 €</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2"/>
                          </a:solidFill>
                        </a:rPr>
                        <a:t>72,70 €</a:t>
                      </a:r>
                      <a:endParaRPr lang="en-US" sz="13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822960">
                <a:tc>
                  <a:txBody>
                    <a:bodyPr/>
                    <a:lstStyle/>
                    <a:p>
                      <a:pPr marL="0" indent="0" algn="l">
                        <a:buNone/>
                      </a:pPr>
                      <a:r>
                        <a:rPr lang="en-US" sz="1150" b="1" dirty="0">
                          <a:solidFill>
                            <a:schemeClr val="tx1"/>
                          </a:solidFill>
                        </a:rPr>
                        <a:t>1 usuario · intensivo + voz</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1</a:t>
                      </a: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l">
                        <a:buNone/>
                      </a:pPr>
                      <a:r>
                        <a:rPr lang="en-US" sz="1050" dirty="0">
                          <a:solidFill>
                            <a:schemeClr val="accent5"/>
                          </a:solidFill>
                        </a:rPr>
                        <a:t>1 intensivo + voz</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150" dirty="0">
                          <a:solidFill>
                            <a:schemeClr val="tx1"/>
                          </a:solidFill>
                        </a:rPr>
                        <a:t>72,00 €</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150" dirty="0">
                          <a:solidFill>
                            <a:schemeClr val="tx1"/>
                          </a:solidFill>
                        </a:rPr>
                        <a:t>8,58 €</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150" dirty="0">
                          <a:solidFill>
                            <a:schemeClr val="tx1"/>
                          </a:solidFill>
                        </a:rPr>
                        <a:t>9,42 €</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accent2"/>
                          </a:solidFill>
                        </a:rPr>
                        <a:t>90,00 €</a:t>
                      </a:r>
                      <a:endParaRPr lang="en-US" sz="13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22960">
                <a:tc>
                  <a:txBody>
                    <a:bodyPr/>
                    <a:lstStyle/>
                    <a:p>
                      <a:pPr marL="0" indent="0" algn="l">
                        <a:buNone/>
                      </a:pPr>
                      <a:r>
                        <a:rPr lang="en-US" sz="1150" b="1" dirty="0">
                          <a:solidFill>
                            <a:schemeClr val="tx1"/>
                          </a:solidFill>
                        </a:rPr>
                        <a:t>5 usuarios · equipo mixto</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rPr>
                        <a:t>5</a:t>
                      </a: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l">
                        <a:buNone/>
                      </a:pPr>
                      <a:r>
                        <a:rPr lang="en-US" sz="1050" dirty="0">
                          <a:solidFill>
                            <a:schemeClr val="accent5"/>
                          </a:solidFill>
                        </a:rPr>
                        <a:t>2 ligero + 2 medio + 1 intensivo/voz</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50" dirty="0">
                          <a:solidFill>
                            <a:schemeClr val="tx1"/>
                          </a:solidFill>
                        </a:rPr>
                        <a:t>72,00 €</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50" dirty="0">
                          <a:solidFill>
                            <a:schemeClr val="tx1"/>
                          </a:solidFill>
                        </a:rPr>
                        <a:t>15,86 €</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150" dirty="0">
                          <a:solidFill>
                            <a:schemeClr val="tx1"/>
                          </a:solidFill>
                        </a:rPr>
                        <a:t>9,42 €</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2"/>
                          </a:solidFill>
                        </a:rPr>
                        <a:t>97,28 €</a:t>
                      </a:r>
                      <a:endParaRPr lang="en-US" sz="13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822960">
                <a:tc>
                  <a:txBody>
                    <a:bodyPr/>
                    <a:lstStyle/>
                    <a:p>
                      <a:pPr marL="0" indent="0" algn="l">
                        <a:buNone/>
                      </a:pPr>
                      <a:r>
                        <a:rPr lang="en-US" sz="1150" b="1" dirty="0">
                          <a:solidFill>
                            <a:schemeClr val="tx1"/>
                          </a:solidFill>
                        </a:rPr>
                        <a:t>10 usuarios · despliegue departamental</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10</a:t>
                      </a: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l">
                        <a:buNone/>
                      </a:pPr>
                      <a:r>
                        <a:rPr lang="en-US" sz="1050" dirty="0">
                          <a:solidFill>
                            <a:schemeClr val="accent5"/>
                          </a:solidFill>
                        </a:rPr>
                        <a:t>4 ligero + 4 medio + 2 intensivo/voz</a:t>
                      </a:r>
                      <a:endParaRPr lang="en-US" sz="10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150" dirty="0">
                          <a:solidFill>
                            <a:schemeClr val="tx1"/>
                          </a:solidFill>
                        </a:rPr>
                        <a:t>72,00 €</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150" dirty="0">
                          <a:solidFill>
                            <a:schemeClr val="tx1"/>
                          </a:solidFill>
                        </a:rPr>
                        <a:t>31,72 €</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150" dirty="0">
                          <a:solidFill>
                            <a:schemeClr val="tx1"/>
                          </a:solidFill>
                        </a:rPr>
                        <a:t>18,84 €</a:t>
                      </a:r>
                      <a:endParaRPr lang="en-US" sz="115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accent2"/>
                          </a:solidFill>
                        </a:rPr>
                        <a:t>122,56 €</a:t>
                      </a:r>
                      <a:endParaRPr lang="en-US" sz="13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48640" y="5440680"/>
            <a:ext cx="11064240" cy="640080"/>
          </a:xfrm>
          <a:prstGeom prst="rect">
            <a:avLst/>
          </a:prstGeom>
          <a:noFill/>
          <a:ln/>
        </p:spPr>
        <p:txBody>
          <a:bodyPr wrap="square" lIns="0" tIns="0" rIns="0" bIns="0" rtlCol="0" anchor="ctr"/>
          <a:lstStyle/>
          <a:p>
            <a:pPr marL="0" indent="0">
              <a:buNone/>
            </a:pPr>
            <a:r>
              <a:rPr lang="en-US" sz="1150" i="1" dirty="0">
                <a:solidFill>
                  <a:schemeClr val="accent5"/>
                </a:solidFill>
                <a:latin typeface="Calibri" pitchFamily="34" charset="0"/>
                <a:ea typeface="Calibri" pitchFamily="34" charset="-122"/>
                <a:cs typeface="Calibri" pitchFamily="34" charset="-120"/>
              </a:rPr>
              <a:t>Cada perfil se define en las láminas de LLM y de voz. El coste de Azure es prácticamente constante porque la arquitectura desplegada (1 réplica mínima, Postgres B1ms) no necesita escalar para este rango de usuarios. No incluye Azure AI Search ni Azure Machine Learning (planificados, 0 €/mes hoy).</a:t>
            </a:r>
            <a:endParaRPr lang="en-US" sz="1150" dirty="0"/>
          </a:p>
        </p:txBody>
      </p:sp>
      <p:sp>
        <p:nvSpPr>
          <p:cNvPr id="6" name="Text 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000" dirty="0">
                <a:solidFill>
                  <a:schemeClr val="accent6"/>
                </a:solidFill>
                <a:latin typeface="Calibri" pitchFamily="34" charset="0"/>
                <a:ea typeface="Calibri" pitchFamily="34" charset="-122"/>
                <a:cs typeface="Calibri" pitchFamily="34" charset="-120"/>
              </a:rPr>
              <a:t>mIA · Estimación de costes en Azure (producción)</a:t>
            </a:r>
            <a:endParaRPr lang="en-US" sz="1000" dirty="0"/>
          </a:p>
        </p:txBody>
      </p:sp>
      <p:sp>
        <p:nvSpPr>
          <p:cNvPr id="7" name="Text 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1000" dirty="0">
                <a:solidFill>
                  <a:schemeClr val="accent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300" b="1" kern="0" spc="150" dirty="0">
                <a:solidFill>
                  <a:schemeClr val="accent1"/>
                </a:solidFill>
                <a:latin typeface="Calibri" pitchFamily="34" charset="0"/>
                <a:ea typeface="Calibri" pitchFamily="34" charset="-122"/>
                <a:cs typeface="Calibri" pitchFamily="34" charset="-120"/>
              </a:rPr>
              <a:t>COMPARATIVA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Composición del coste mensual por escenario</a:t>
            </a:r>
            <a:endParaRPr lang="en-US" sz="2800" dirty="0"/>
          </a:p>
        </p:txBody>
      </p:sp>
      <p:graphicFrame>
        <p:nvGraphicFramePr>
          <p:cNvPr id="4" name="Chart 0"/>
          <p:cNvGraphicFramePr/>
          <p:nvPr/>
        </p:nvGraphicFramePr>
        <p:xfrm>
          <a:off x="548640" y="1600200"/>
          <a:ext cx="740664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275320" y="1828800"/>
            <a:ext cx="3337560" cy="1143000"/>
          </a:xfrm>
          <a:prstGeom prst="roundRect">
            <a:avLst>
              <a:gd name="adj" fmla="val 6400"/>
            </a:avLst>
          </a:prstGeom>
          <a:solidFill>
            <a:schemeClr val="bg2"/>
          </a:solidFill>
          <a:ln/>
        </p:spPr>
      </p:sp>
      <p:sp>
        <p:nvSpPr>
          <p:cNvPr id="6" name="Text 3"/>
          <p:cNvSpPr txBox="1"/>
          <p:nvPr/>
        </p:nvSpPr>
        <p:spPr>
          <a:xfrm>
            <a:off x="8458200" y="1920240"/>
            <a:ext cx="2971800" cy="45720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+17 €</a:t>
            </a:r>
            <a:endParaRPr lang="en-US" sz="2400" dirty="0"/>
          </a:p>
        </p:txBody>
      </p:sp>
      <p:sp>
        <p:nvSpPr>
          <p:cNvPr id="7" name="Text 4"/>
          <p:cNvSpPr txBox="1"/>
          <p:nvPr/>
        </p:nvSpPr>
        <p:spPr>
          <a:xfrm>
            <a:off x="8458200" y="2395728"/>
            <a:ext cx="2971800" cy="502920"/>
          </a:xfrm>
          <a:prstGeom prst="rect">
            <a:avLst/>
          </a:prstGeom>
          <a:noFill/>
          <a:ln/>
        </p:spPr>
        <p:txBody>
          <a:bodyPr wrap="square" lIns="0" tIns="0" rIns="0" bIns="0" rtlCol="0" anchor="ctr"/>
          <a:lstStyle/>
          <a:p>
            <a:pPr marL="0" indent="0">
              <a:buNone/>
            </a:pPr>
            <a:r>
              <a:rPr lang="en-US" sz="1100" dirty="0">
                <a:solidFill>
                  <a:schemeClr val="accent5"/>
                </a:solidFill>
                <a:latin typeface="Calibri" pitchFamily="34" charset="0"/>
                <a:ea typeface="Calibri" pitchFamily="34" charset="-122"/>
                <a:cs typeface="Calibri" pitchFamily="34" charset="-120"/>
              </a:rPr>
              <a:t>coste adicional al pasar de 1 (intensivo) a 5 usuarios mixtos</a:t>
            </a:r>
            <a:endParaRPr lang="en-US" sz="1100" dirty="0"/>
          </a:p>
        </p:txBody>
      </p:sp>
      <p:sp>
        <p:nvSpPr>
          <p:cNvPr id="8" name="Shape 5"/>
          <p:cNvSpPr/>
          <p:nvPr/>
        </p:nvSpPr>
        <p:spPr>
          <a:xfrm>
            <a:off x="8275320" y="3200400"/>
            <a:ext cx="3337560" cy="1143000"/>
          </a:xfrm>
          <a:prstGeom prst="roundRect">
            <a:avLst>
              <a:gd name="adj" fmla="val 6400"/>
            </a:avLst>
          </a:prstGeom>
          <a:solidFill>
            <a:schemeClr val="bg2"/>
          </a:solidFill>
          <a:ln/>
        </p:spPr>
      </p:sp>
      <p:sp>
        <p:nvSpPr>
          <p:cNvPr id="9" name="Text 6"/>
          <p:cNvSpPr txBox="1"/>
          <p:nvPr/>
        </p:nvSpPr>
        <p:spPr>
          <a:xfrm>
            <a:off x="8458200" y="3291840"/>
            <a:ext cx="2971800" cy="45720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+25 €</a:t>
            </a:r>
            <a:endParaRPr lang="en-US" sz="2400" dirty="0"/>
          </a:p>
        </p:txBody>
      </p:sp>
      <p:sp>
        <p:nvSpPr>
          <p:cNvPr id="10" name="Text 7"/>
          <p:cNvSpPr txBox="1"/>
          <p:nvPr/>
        </p:nvSpPr>
        <p:spPr>
          <a:xfrm>
            <a:off x="8458200" y="3767328"/>
            <a:ext cx="2971800" cy="502920"/>
          </a:xfrm>
          <a:prstGeom prst="rect">
            <a:avLst/>
          </a:prstGeom>
          <a:noFill/>
          <a:ln/>
        </p:spPr>
        <p:txBody>
          <a:bodyPr wrap="square" lIns="0" tIns="0" rIns="0" bIns="0" rtlCol="0" anchor="ctr"/>
          <a:lstStyle/>
          <a:p>
            <a:pPr marL="0" indent="0">
              <a:buNone/>
            </a:pPr>
            <a:r>
              <a:rPr lang="en-US" sz="1100" dirty="0">
                <a:solidFill>
                  <a:schemeClr val="accent5"/>
                </a:solidFill>
                <a:latin typeface="Calibri" pitchFamily="34" charset="0"/>
                <a:ea typeface="Calibri" pitchFamily="34" charset="-122"/>
                <a:cs typeface="Calibri" pitchFamily="34" charset="-120"/>
              </a:rPr>
              <a:t>coste adicional al pasar de 5 a 10 usuarios mixtos</a:t>
            </a:r>
            <a:endParaRPr lang="en-US" sz="1100" dirty="0"/>
          </a:p>
        </p:txBody>
      </p:sp>
      <p:sp>
        <p:nvSpPr>
          <p:cNvPr id="11" name="Shape 8"/>
          <p:cNvSpPr/>
          <p:nvPr/>
        </p:nvSpPr>
        <p:spPr>
          <a:xfrm>
            <a:off x="8275320" y="4572000"/>
            <a:ext cx="3337560" cy="1143000"/>
          </a:xfrm>
          <a:prstGeom prst="roundRect">
            <a:avLst>
              <a:gd name="adj" fmla="val 6400"/>
            </a:avLst>
          </a:prstGeom>
          <a:solidFill>
            <a:schemeClr val="bg2"/>
          </a:solidFill>
          <a:ln/>
        </p:spPr>
      </p:sp>
      <p:sp>
        <p:nvSpPr>
          <p:cNvPr id="12" name="Text 9"/>
          <p:cNvSpPr txBox="1"/>
          <p:nvPr/>
        </p:nvSpPr>
        <p:spPr>
          <a:xfrm>
            <a:off x="8458200" y="4663440"/>
            <a:ext cx="2971800" cy="45720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59 %</a:t>
            </a:r>
            <a:endParaRPr lang="en-US" sz="2400" dirty="0"/>
          </a:p>
        </p:txBody>
      </p:sp>
      <p:sp>
        <p:nvSpPr>
          <p:cNvPr id="13" name="Text 10"/>
          <p:cNvSpPr txBox="1"/>
          <p:nvPr/>
        </p:nvSpPr>
        <p:spPr>
          <a:xfrm>
            <a:off x="8458200" y="5138928"/>
            <a:ext cx="2971800" cy="502920"/>
          </a:xfrm>
          <a:prstGeom prst="rect">
            <a:avLst/>
          </a:prstGeom>
          <a:noFill/>
          <a:ln/>
        </p:spPr>
        <p:txBody>
          <a:bodyPr wrap="square" lIns="0" tIns="0" rIns="0" bIns="0" rtlCol="0" anchor="ctr"/>
          <a:lstStyle/>
          <a:p>
            <a:pPr marL="0" indent="0">
              <a:buNone/>
            </a:pPr>
            <a:r>
              <a:rPr lang="en-US" sz="1100" dirty="0">
                <a:solidFill>
                  <a:schemeClr val="accent5"/>
                </a:solidFill>
                <a:latin typeface="Calibri" pitchFamily="34" charset="0"/>
                <a:ea typeface="Calibri" pitchFamily="34" charset="-122"/>
                <a:cs typeface="Calibri" pitchFamily="34" charset="-120"/>
              </a:rPr>
              <a:t>del coste a 10 usuarios sigue siendo infraestructura fija</a:t>
            </a:r>
            <a:endParaRPr lang="en-US" sz="1100" dirty="0"/>
          </a:p>
        </p:txBody>
      </p:sp>
      <p:sp>
        <p:nvSpPr>
          <p:cNvPr id="14" name="Text 11"/>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000" dirty="0">
                <a:solidFill>
                  <a:schemeClr val="accent6"/>
                </a:solidFill>
                <a:latin typeface="Calibri" pitchFamily="34" charset="0"/>
                <a:ea typeface="Calibri" pitchFamily="34" charset="-122"/>
                <a:cs typeface="Calibri" pitchFamily="34" charset="-120"/>
              </a:rPr>
              <a:t>mIA · Estimación de costes en Azure (producción)</a:t>
            </a:r>
            <a:endParaRPr lang="en-US" sz="1000" dirty="0"/>
          </a:p>
        </p:txBody>
      </p:sp>
      <p:sp>
        <p:nvSpPr>
          <p:cNvPr id="15" name="Text 12"/>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1000" dirty="0">
                <a:solidFill>
                  <a:schemeClr val="accent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300" b="1" kern="0" spc="150" dirty="0">
                <a:solidFill>
                  <a:schemeClr val="accent1"/>
                </a:solidFill>
                <a:latin typeface="Calibri" pitchFamily="34" charset="0"/>
                <a:ea typeface="Calibri" pitchFamily="34" charset="-122"/>
                <a:cs typeface="Calibri" pitchFamily="34" charset="-120"/>
              </a:rPr>
              <a:t>METODOLOGÍA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chemeClr val="tx1"/>
                </a:solidFill>
                <a:latin typeface="Cambria" pitchFamily="34" charset="0"/>
                <a:ea typeface="Cambria" pitchFamily="34" charset="-122"/>
                <a:cs typeface="Cambria" pitchFamily="34" charset="-120"/>
              </a:rPr>
              <a:t>Fuentes, supuestos y oportunidades de ahorro</a:t>
            </a:r>
            <a:endParaRPr lang="en-US" sz="2800" dirty="0"/>
          </a:p>
        </p:txBody>
      </p:sp>
      <p:sp>
        <p:nvSpPr>
          <p:cNvPr id="4" name="Shape 2"/>
          <p:cNvSpPr/>
          <p:nvPr/>
        </p:nvSpPr>
        <p:spPr>
          <a:xfrm>
            <a:off x="548640" y="1600200"/>
            <a:ext cx="5440680" cy="4526280"/>
          </a:xfrm>
          <a:prstGeom prst="roundRect">
            <a:avLst>
              <a:gd name="adj" fmla="val 1616"/>
            </a:avLst>
          </a:prstGeom>
          <a:solidFill>
            <a:schemeClr val="bg2"/>
          </a:solidFill>
          <a:ln/>
        </p:spPr>
      </p:sp>
      <p:sp>
        <p:nvSpPr>
          <p:cNvPr id="5" name="Shape 3"/>
          <p:cNvSpPr/>
          <p:nvPr/>
        </p:nvSpPr>
        <p:spPr>
          <a:xfrm>
            <a:off x="822960" y="1828800"/>
            <a:ext cx="548640" cy="548640"/>
          </a:xfrm>
          <a:prstGeom prst="ellipse">
            <a:avLst/>
          </a:prstGeom>
          <a:solidFill>
            <a:schemeClr val="accent1"/>
          </a:solidFill>
          <a:ln/>
        </p:spPr>
      </p:sp>
      <p:pic>
        <p:nvPicPr>
          <p:cNvPr id="6" name="Image 0" descr="preencoded.png"/>
          <p:cNvPicPr>
            <a:picLocks noChangeAspect="1"/>
          </p:cNvPicPr>
          <p:nvPr/>
        </p:nvPicPr>
        <p:blipFill>
          <a:blip r:embed="rId3"/>
          <a:stretch>
            <a:fillRect/>
          </a:stretch>
        </p:blipFill>
        <p:spPr>
          <a:xfrm>
            <a:off x="965606" y="1971446"/>
            <a:ext cx="263347" cy="263347"/>
          </a:xfrm>
          <a:prstGeom prst="rect">
            <a:avLst/>
          </a:prstGeom>
        </p:spPr>
      </p:pic>
      <p:sp>
        <p:nvSpPr>
          <p:cNvPr id="7" name="Text 4"/>
          <p:cNvSpPr txBox="1"/>
          <p:nvPr/>
        </p:nvSpPr>
        <p:spPr>
          <a:xfrm>
            <a:off x="1508760" y="1892808"/>
            <a:ext cx="4297680" cy="41148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Fuentes y supuestos</a:t>
            </a:r>
            <a:endParaRPr lang="en-US" sz="1600" dirty="0"/>
          </a:p>
        </p:txBody>
      </p:sp>
      <p:sp>
        <p:nvSpPr>
          <p:cNvPr id="8" name="Shape 5"/>
          <p:cNvSpPr/>
          <p:nvPr/>
        </p:nvSpPr>
        <p:spPr>
          <a:xfrm>
            <a:off x="868680" y="2459736"/>
            <a:ext cx="73152" cy="73152"/>
          </a:xfrm>
          <a:prstGeom prst="ellipse">
            <a:avLst/>
          </a:prstGeom>
          <a:solidFill>
            <a:schemeClr val="accent1"/>
          </a:solidFill>
          <a:ln/>
        </p:spPr>
      </p:sp>
      <p:sp>
        <p:nvSpPr>
          <p:cNvPr id="9" name="Text 6"/>
          <p:cNvSpPr txBox="1"/>
          <p:nvPr/>
        </p:nvSpPr>
        <p:spPr>
          <a:xfrm>
            <a:off x="1097280" y="2322576"/>
            <a:ext cx="4709160" cy="713232"/>
          </a:xfrm>
          <a:prstGeom prst="rect">
            <a:avLst/>
          </a:prstGeom>
          <a:noFill/>
          <a:ln/>
        </p:spPr>
        <p:txBody>
          <a:bodyPr wrap="square" lIns="0" tIns="0" rIns="0" bIns="0" rtlCol="0" anchor="t"/>
          <a:lstStyle/>
          <a:p>
            <a:pPr marL="0" indent="0">
              <a:buNone/>
            </a:pPr>
            <a:r>
              <a:rPr lang="en-US" sz="1000" dirty="0">
                <a:solidFill>
                  <a:schemeClr val="accent5"/>
                </a:solidFill>
                <a:latin typeface="Calibri" pitchFamily="34" charset="0"/>
                <a:ea typeface="Calibri" pitchFamily="34" charset="-122"/>
                <a:cs typeface="Calibri" pitchFamily="34" charset="-120"/>
              </a:rPr>
              <a:t>Precios de Azure: Azure Retail Prices API (prices.azure.com), currencyCode=EUR, armRegionName=spaincentral, consultada el 20/10/2026 — cifras oficiales, no estimadas.</a:t>
            </a:r>
            <a:endParaRPr lang="en-US" sz="1000" dirty="0"/>
          </a:p>
        </p:txBody>
      </p:sp>
      <p:sp>
        <p:nvSpPr>
          <p:cNvPr id="10" name="Shape 7"/>
          <p:cNvSpPr/>
          <p:nvPr/>
        </p:nvSpPr>
        <p:spPr>
          <a:xfrm>
            <a:off x="868680" y="3227832"/>
            <a:ext cx="73152" cy="73152"/>
          </a:xfrm>
          <a:prstGeom prst="ellipse">
            <a:avLst/>
          </a:prstGeom>
          <a:solidFill>
            <a:schemeClr val="accent1"/>
          </a:solidFill>
          <a:ln/>
        </p:spPr>
      </p:sp>
      <p:sp>
        <p:nvSpPr>
          <p:cNvPr id="11" name="Text 8"/>
          <p:cNvSpPr txBox="1"/>
          <p:nvPr/>
        </p:nvSpPr>
        <p:spPr>
          <a:xfrm>
            <a:off x="1097280" y="3090672"/>
            <a:ext cx="4709160" cy="713232"/>
          </a:xfrm>
          <a:prstGeom prst="rect">
            <a:avLst/>
          </a:prstGeom>
          <a:noFill/>
          <a:ln/>
        </p:spPr>
        <p:txBody>
          <a:bodyPr wrap="square" lIns="0" tIns="0" rIns="0" bIns="0" rtlCol="0" anchor="t"/>
          <a:lstStyle/>
          <a:p>
            <a:pPr marL="0" indent="0">
              <a:buNone/>
            </a:pPr>
            <a:r>
              <a:rPr lang="en-US" sz="1000" dirty="0">
                <a:solidFill>
                  <a:schemeClr val="accent5"/>
                </a:solidFill>
                <a:latin typeface="Calibri" pitchFamily="34" charset="0"/>
                <a:ea typeface="Calibri" pitchFamily="34" charset="-122"/>
                <a:cs typeface="Calibri" pitchFamily="34" charset="-120"/>
              </a:rPr>
              <a:t>Precios de ElevenLabs: elevenlabs.io/pricing y /pricing/api (en USD) convertidos a EUR al tipo de cambio BCE del 20/10/2026 (1 USD = 0,8917 EUR, vía Frankfurter/ECB).</a:t>
            </a:r>
            <a:endParaRPr lang="en-US" sz="1000" dirty="0"/>
          </a:p>
        </p:txBody>
      </p:sp>
      <p:sp>
        <p:nvSpPr>
          <p:cNvPr id="12" name="Shape 9"/>
          <p:cNvSpPr/>
          <p:nvPr/>
        </p:nvSpPr>
        <p:spPr>
          <a:xfrm>
            <a:off x="868680" y="3995928"/>
            <a:ext cx="73152" cy="73152"/>
          </a:xfrm>
          <a:prstGeom prst="ellipse">
            <a:avLst/>
          </a:prstGeom>
          <a:solidFill>
            <a:schemeClr val="accent1"/>
          </a:solidFill>
          <a:ln/>
        </p:spPr>
      </p:sp>
      <p:sp>
        <p:nvSpPr>
          <p:cNvPr id="13" name="Text 10"/>
          <p:cNvSpPr txBox="1"/>
          <p:nvPr/>
        </p:nvSpPr>
        <p:spPr>
          <a:xfrm>
            <a:off x="1097280" y="3858768"/>
            <a:ext cx="4709160" cy="713232"/>
          </a:xfrm>
          <a:prstGeom prst="rect">
            <a:avLst/>
          </a:prstGeom>
          <a:noFill/>
          <a:ln/>
        </p:spPr>
        <p:txBody>
          <a:bodyPr wrap="square" lIns="0" tIns="0" rIns="0" bIns="0" rtlCol="0" anchor="t"/>
          <a:lstStyle/>
          <a:p>
            <a:pPr marL="0" indent="0">
              <a:buNone/>
            </a:pPr>
            <a:r>
              <a:rPr lang="en-US" sz="1000" dirty="0">
                <a:solidFill>
                  <a:schemeClr val="accent5"/>
                </a:solidFill>
                <a:latin typeface="Calibri" pitchFamily="34" charset="0"/>
                <a:ea typeface="Calibri" pitchFamily="34" charset="-122"/>
                <a:cs typeface="Calibri" pitchFamily="34" charset="-120"/>
              </a:rPr>
              <a:t>Dos medidores de consumo por segundo (vCPU/memoria activa de Container Apps, embeddings) devuelven 0 en EUR por una anomalía de la propia API; para esos dos se usó el precio oficial en USD convertido al mismo tipo de cambio.</a:t>
            </a:r>
            <a:endParaRPr lang="en-US" sz="1000" dirty="0"/>
          </a:p>
        </p:txBody>
      </p:sp>
      <p:sp>
        <p:nvSpPr>
          <p:cNvPr id="14" name="Shape 11"/>
          <p:cNvSpPr/>
          <p:nvPr/>
        </p:nvSpPr>
        <p:spPr>
          <a:xfrm>
            <a:off x="868680" y="4764024"/>
            <a:ext cx="73152" cy="73152"/>
          </a:xfrm>
          <a:prstGeom prst="ellipse">
            <a:avLst/>
          </a:prstGeom>
          <a:solidFill>
            <a:schemeClr val="accent1"/>
          </a:solidFill>
          <a:ln/>
        </p:spPr>
      </p:sp>
      <p:sp>
        <p:nvSpPr>
          <p:cNvPr id="15" name="Text 12"/>
          <p:cNvSpPr txBox="1"/>
          <p:nvPr/>
        </p:nvSpPr>
        <p:spPr>
          <a:xfrm>
            <a:off x="1097280" y="4626864"/>
            <a:ext cx="4709160" cy="512064"/>
          </a:xfrm>
          <a:prstGeom prst="rect">
            <a:avLst/>
          </a:prstGeom>
          <a:noFill/>
          <a:ln/>
        </p:spPr>
        <p:txBody>
          <a:bodyPr wrap="square" lIns="0" tIns="0" rIns="0" bIns="0" rtlCol="0" anchor="t"/>
          <a:lstStyle/>
          <a:p>
            <a:pPr marL="0" indent="0">
              <a:buNone/>
            </a:pPr>
            <a:r>
              <a:rPr lang="en-US" sz="1000" dirty="0">
                <a:solidFill>
                  <a:schemeClr val="accent5"/>
                </a:solidFill>
                <a:latin typeface="Calibri" pitchFamily="34" charset="0"/>
                <a:ea typeface="Calibri" pitchFamily="34" charset="-122"/>
                <a:cs typeface="Calibri" pitchFamily="34" charset="-120"/>
              </a:rPr>
              <a:t>Arquitectura y SKUs tomados de infra/main.bicep e infra/main.prod.bicepparam: 1 réplica mínima 24/7, PostgreSQL Flexible Server B1ms (32 GB).</a:t>
            </a:r>
            <a:endParaRPr lang="en-US" sz="1000" dirty="0"/>
          </a:p>
        </p:txBody>
      </p:sp>
      <p:sp>
        <p:nvSpPr>
          <p:cNvPr id="16" name="Shape 13"/>
          <p:cNvSpPr/>
          <p:nvPr/>
        </p:nvSpPr>
        <p:spPr>
          <a:xfrm>
            <a:off x="868680" y="5330952"/>
            <a:ext cx="73152" cy="73152"/>
          </a:xfrm>
          <a:prstGeom prst="ellipse">
            <a:avLst/>
          </a:prstGeom>
          <a:solidFill>
            <a:schemeClr val="accent1"/>
          </a:solidFill>
          <a:ln/>
        </p:spPr>
      </p:sp>
      <p:sp>
        <p:nvSpPr>
          <p:cNvPr id="17" name="Text 14"/>
          <p:cNvSpPr txBox="1"/>
          <p:nvPr/>
        </p:nvSpPr>
        <p:spPr>
          <a:xfrm>
            <a:off x="1097280" y="5193792"/>
            <a:ext cx="4709160" cy="713232"/>
          </a:xfrm>
          <a:prstGeom prst="rect">
            <a:avLst/>
          </a:prstGeom>
          <a:noFill/>
          <a:ln/>
        </p:spPr>
        <p:txBody>
          <a:bodyPr wrap="square" lIns="0" tIns="0" rIns="0" bIns="0" rtlCol="0" anchor="t"/>
          <a:lstStyle/>
          <a:p>
            <a:pPr marL="0" indent="0">
              <a:buNone/>
            </a:pPr>
            <a:r>
              <a:rPr lang="en-US" sz="1000" dirty="0">
                <a:solidFill>
                  <a:schemeClr val="accent5"/>
                </a:solidFill>
                <a:latin typeface="Calibri" pitchFamily="34" charset="0"/>
                <a:ea typeface="Calibri" pitchFamily="34" charset="-122"/>
                <a:cs typeface="Calibri" pitchFamily="34" charset="-120"/>
              </a:rPr>
              <a:t>El consumo de tokens y caracteres por perfil es un modelo (uso real aún no medido): ajustar con la telemetría de Application Insights una vez en producción.</a:t>
            </a:r>
            <a:endParaRPr lang="en-US" sz="1000" dirty="0"/>
          </a:p>
        </p:txBody>
      </p:sp>
      <p:sp>
        <p:nvSpPr>
          <p:cNvPr id="18" name="Shape 15"/>
          <p:cNvSpPr/>
          <p:nvPr/>
        </p:nvSpPr>
        <p:spPr>
          <a:xfrm>
            <a:off x="868680" y="6099048"/>
            <a:ext cx="73152" cy="73152"/>
          </a:xfrm>
          <a:prstGeom prst="ellipse">
            <a:avLst/>
          </a:prstGeom>
          <a:solidFill>
            <a:schemeClr val="accent1"/>
          </a:solidFill>
          <a:ln/>
        </p:spPr>
      </p:sp>
      <p:sp>
        <p:nvSpPr>
          <p:cNvPr id="19" name="Text 16"/>
          <p:cNvSpPr txBox="1"/>
          <p:nvPr/>
        </p:nvSpPr>
        <p:spPr>
          <a:xfrm>
            <a:off x="1097280" y="5961888"/>
            <a:ext cx="4709160" cy="512064"/>
          </a:xfrm>
          <a:prstGeom prst="rect">
            <a:avLst/>
          </a:prstGeom>
          <a:noFill/>
          <a:ln/>
        </p:spPr>
        <p:txBody>
          <a:bodyPr wrap="square" lIns="0" tIns="0" rIns="0" bIns="0" rtlCol="0" anchor="t"/>
          <a:lstStyle/>
          <a:p>
            <a:pPr marL="0" indent="0">
              <a:buNone/>
            </a:pPr>
            <a:r>
              <a:rPr lang="en-US" sz="1000" dirty="0">
                <a:solidFill>
                  <a:schemeClr val="accent5"/>
                </a:solidFill>
                <a:latin typeface="Calibri" pitchFamily="34" charset="0"/>
                <a:ea typeface="Calibri" pitchFamily="34" charset="-122"/>
                <a:cs typeface="Calibri" pitchFamily="34" charset="-120"/>
              </a:rPr>
              <a:t>Azure AI Search y Azure Machine Learning no están incluidos en el total porque hoy no hay despliegue real (ver lámina dedicada).</a:t>
            </a:r>
            <a:endParaRPr lang="en-US" sz="1000" dirty="0"/>
          </a:p>
        </p:txBody>
      </p:sp>
      <p:sp>
        <p:nvSpPr>
          <p:cNvPr id="20" name="Shape 17"/>
          <p:cNvSpPr/>
          <p:nvPr/>
        </p:nvSpPr>
        <p:spPr>
          <a:xfrm>
            <a:off x="6172200" y="1600200"/>
            <a:ext cx="5440680" cy="4526280"/>
          </a:xfrm>
          <a:prstGeom prst="roundRect">
            <a:avLst>
              <a:gd name="adj" fmla="val 1616"/>
            </a:avLst>
          </a:prstGeom>
          <a:solidFill>
            <a:schemeClr val="bg2"/>
          </a:solidFill>
          <a:ln/>
        </p:spPr>
      </p:sp>
      <p:sp>
        <p:nvSpPr>
          <p:cNvPr id="21" name="Shape 18"/>
          <p:cNvSpPr/>
          <p:nvPr/>
        </p:nvSpPr>
        <p:spPr>
          <a:xfrm>
            <a:off x="6446520" y="1828800"/>
            <a:ext cx="548640" cy="548640"/>
          </a:xfrm>
          <a:prstGeom prst="ellipse">
            <a:avLst/>
          </a:prstGeom>
          <a:solidFill>
            <a:schemeClr val="accent2"/>
          </a:solidFill>
          <a:ln/>
        </p:spPr>
      </p:sp>
      <p:pic>
        <p:nvPicPr>
          <p:cNvPr id="22" name="Image 1" descr="preencoded.png"/>
          <p:cNvPicPr>
            <a:picLocks noChangeAspect="1"/>
          </p:cNvPicPr>
          <p:nvPr/>
        </p:nvPicPr>
        <p:blipFill>
          <a:blip r:embed="rId4"/>
          <a:stretch>
            <a:fillRect/>
          </a:stretch>
        </p:blipFill>
        <p:spPr>
          <a:xfrm>
            <a:off x="6589166" y="1971446"/>
            <a:ext cx="263347" cy="263347"/>
          </a:xfrm>
          <a:prstGeom prst="rect">
            <a:avLst/>
          </a:prstGeom>
        </p:spPr>
      </p:pic>
      <p:sp>
        <p:nvSpPr>
          <p:cNvPr id="23" name="Text 19"/>
          <p:cNvSpPr txBox="1"/>
          <p:nvPr/>
        </p:nvSpPr>
        <p:spPr>
          <a:xfrm>
            <a:off x="7132320" y="1892808"/>
            <a:ext cx="4297680" cy="41148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Oportunidades de optimización</a:t>
            </a:r>
            <a:endParaRPr lang="en-US" sz="1600" dirty="0"/>
          </a:p>
        </p:txBody>
      </p:sp>
      <p:sp>
        <p:nvSpPr>
          <p:cNvPr id="24" name="Shape 20"/>
          <p:cNvSpPr/>
          <p:nvPr/>
        </p:nvSpPr>
        <p:spPr>
          <a:xfrm>
            <a:off x="6492240" y="2459736"/>
            <a:ext cx="73152" cy="73152"/>
          </a:xfrm>
          <a:prstGeom prst="ellipse">
            <a:avLst/>
          </a:prstGeom>
          <a:solidFill>
            <a:schemeClr val="accent2"/>
          </a:solidFill>
          <a:ln/>
        </p:spPr>
      </p:sp>
      <p:sp>
        <p:nvSpPr>
          <p:cNvPr id="25" name="Text 21"/>
          <p:cNvSpPr txBox="1"/>
          <p:nvPr/>
        </p:nvSpPr>
        <p:spPr>
          <a:xfrm>
            <a:off x="6720840" y="2322576"/>
            <a:ext cx="4709160" cy="512064"/>
          </a:xfrm>
          <a:prstGeom prst="rect">
            <a:avLst/>
          </a:prstGeom>
          <a:noFill/>
          <a:ln/>
        </p:spPr>
        <p:txBody>
          <a:bodyPr wrap="square" lIns="0" tIns="0" rIns="0" bIns="0" rtlCol="0" anchor="t"/>
          <a:lstStyle/>
          <a:p>
            <a:pPr marL="0" indent="0">
              <a:buNone/>
            </a:pPr>
            <a:r>
              <a:rPr lang="en-US" sz="1000" dirty="0">
                <a:solidFill>
                  <a:schemeClr val="accent5"/>
                </a:solidFill>
                <a:latin typeface="Calibri" pitchFamily="34" charset="0"/>
                <a:ea typeface="Calibri" pitchFamily="34" charset="-122"/>
                <a:cs typeface="Calibri" pitchFamily="34" charset="-120"/>
              </a:rPr>
              <a:t>Evaluar gpt-4.1-mini para consultas rutinarias: 0,40 € / 1,40 € por 1M tokens — ≈ 80 % menos coste de LLM que gpt-4.1.</a:t>
            </a:r>
            <a:endParaRPr lang="en-US" sz="1000" dirty="0"/>
          </a:p>
        </p:txBody>
      </p:sp>
      <p:sp>
        <p:nvSpPr>
          <p:cNvPr id="26" name="Shape 22"/>
          <p:cNvSpPr/>
          <p:nvPr/>
        </p:nvSpPr>
        <p:spPr>
          <a:xfrm>
            <a:off x="6492240" y="3026664"/>
            <a:ext cx="73152" cy="73152"/>
          </a:xfrm>
          <a:prstGeom prst="ellipse">
            <a:avLst/>
          </a:prstGeom>
          <a:solidFill>
            <a:schemeClr val="accent2"/>
          </a:solidFill>
          <a:ln/>
        </p:spPr>
      </p:sp>
      <p:sp>
        <p:nvSpPr>
          <p:cNvPr id="27" name="Text 23"/>
          <p:cNvSpPr txBox="1"/>
          <p:nvPr/>
        </p:nvSpPr>
        <p:spPr>
          <a:xfrm>
            <a:off x="6720840" y="2889504"/>
            <a:ext cx="4709160" cy="512064"/>
          </a:xfrm>
          <a:prstGeom prst="rect">
            <a:avLst/>
          </a:prstGeom>
          <a:noFill/>
          <a:ln/>
        </p:spPr>
        <p:txBody>
          <a:bodyPr wrap="square" lIns="0" tIns="0" rIns="0" bIns="0" rtlCol="0" anchor="t"/>
          <a:lstStyle/>
          <a:p>
            <a:pPr marL="0" indent="0">
              <a:buNone/>
            </a:pPr>
            <a:r>
              <a:rPr lang="en-US" sz="1000" dirty="0">
                <a:solidFill>
                  <a:schemeClr val="accent5"/>
                </a:solidFill>
                <a:latin typeface="Calibri" pitchFamily="34" charset="0"/>
                <a:ea typeface="Calibri" pitchFamily="34" charset="-122"/>
                <a:cs typeface="Calibri" pitchFamily="34" charset="-120"/>
              </a:rPr>
              <a:t>Activar el caché de entrada de Azure OpenAI en conversaciones largas: 0,40 € frente a 1,80 € por 1M tokens de contexto repetido (≈ 78 % menos).</a:t>
            </a:r>
            <a:endParaRPr lang="en-US" sz="1000" dirty="0"/>
          </a:p>
        </p:txBody>
      </p:sp>
      <p:sp>
        <p:nvSpPr>
          <p:cNvPr id="28" name="Shape 24"/>
          <p:cNvSpPr/>
          <p:nvPr/>
        </p:nvSpPr>
        <p:spPr>
          <a:xfrm>
            <a:off x="6492240" y="3593592"/>
            <a:ext cx="73152" cy="73152"/>
          </a:xfrm>
          <a:prstGeom prst="ellipse">
            <a:avLst/>
          </a:prstGeom>
          <a:solidFill>
            <a:schemeClr val="accent2"/>
          </a:solidFill>
          <a:ln/>
        </p:spPr>
      </p:sp>
      <p:sp>
        <p:nvSpPr>
          <p:cNvPr id="29" name="Text 25"/>
          <p:cNvSpPr txBox="1"/>
          <p:nvPr/>
        </p:nvSpPr>
        <p:spPr>
          <a:xfrm>
            <a:off x="6720840" y="3456432"/>
            <a:ext cx="4709160" cy="512064"/>
          </a:xfrm>
          <a:prstGeom prst="rect">
            <a:avLst/>
          </a:prstGeom>
          <a:noFill/>
          <a:ln/>
        </p:spPr>
        <p:txBody>
          <a:bodyPr wrap="square" lIns="0" tIns="0" rIns="0" bIns="0" rtlCol="0" anchor="t"/>
          <a:lstStyle/>
          <a:p>
            <a:pPr marL="0" indent="0">
              <a:buNone/>
            </a:pPr>
            <a:r>
              <a:rPr lang="en-US" sz="1000" dirty="0">
                <a:solidFill>
                  <a:schemeClr val="accent5"/>
                </a:solidFill>
                <a:latin typeface="Calibri" pitchFamily="34" charset="0"/>
                <a:ea typeface="Calibri" pitchFamily="34" charset="-122"/>
                <a:cs typeface="Calibri" pitchFamily="34" charset="-120"/>
              </a:rPr>
              <a:t>Reservar el audio de ElevenLabs a las respuestas donde aporta valor real, no activarlo por defecto en todas las respuestas.</a:t>
            </a:r>
            <a:endParaRPr lang="en-US" sz="1000" dirty="0"/>
          </a:p>
        </p:txBody>
      </p:sp>
      <p:sp>
        <p:nvSpPr>
          <p:cNvPr id="30" name="Shape 26"/>
          <p:cNvSpPr/>
          <p:nvPr/>
        </p:nvSpPr>
        <p:spPr>
          <a:xfrm>
            <a:off x="6492240" y="4160520"/>
            <a:ext cx="73152" cy="73152"/>
          </a:xfrm>
          <a:prstGeom prst="ellipse">
            <a:avLst/>
          </a:prstGeom>
          <a:solidFill>
            <a:schemeClr val="accent2"/>
          </a:solidFill>
          <a:ln/>
        </p:spPr>
      </p:sp>
      <p:sp>
        <p:nvSpPr>
          <p:cNvPr id="31" name="Text 27"/>
          <p:cNvSpPr txBox="1"/>
          <p:nvPr/>
        </p:nvSpPr>
        <p:spPr>
          <a:xfrm>
            <a:off x="6720840" y="4023360"/>
            <a:ext cx="4709160" cy="713232"/>
          </a:xfrm>
          <a:prstGeom prst="rect">
            <a:avLst/>
          </a:prstGeom>
          <a:noFill/>
          <a:ln/>
        </p:spPr>
        <p:txBody>
          <a:bodyPr wrap="square" lIns="0" tIns="0" rIns="0" bIns="0" rtlCol="0" anchor="t"/>
          <a:lstStyle/>
          <a:p>
            <a:pPr marL="0" indent="0">
              <a:buNone/>
            </a:pPr>
            <a:r>
              <a:rPr lang="en-US" sz="1000" dirty="0">
                <a:solidFill>
                  <a:schemeClr val="accent5"/>
                </a:solidFill>
                <a:latin typeface="Calibri" pitchFamily="34" charset="0"/>
                <a:ea typeface="Calibri" pitchFamily="34" charset="-122"/>
                <a:cs typeface="Calibri" pitchFamily="34" charset="-120"/>
              </a:rPr>
              <a:t>Si el volumen o la complejidad de voz crecen mucho, pedir a ElevenLabs una cotización de plan corporativo en vez de escalar el pago por uso sin control.</a:t>
            </a:r>
            <a:endParaRPr lang="en-US" sz="1000" dirty="0"/>
          </a:p>
        </p:txBody>
      </p:sp>
      <p:sp>
        <p:nvSpPr>
          <p:cNvPr id="32" name="Shape 28"/>
          <p:cNvSpPr/>
          <p:nvPr/>
        </p:nvSpPr>
        <p:spPr>
          <a:xfrm>
            <a:off x="6492240" y="4928616"/>
            <a:ext cx="73152" cy="73152"/>
          </a:xfrm>
          <a:prstGeom prst="ellipse">
            <a:avLst/>
          </a:prstGeom>
          <a:solidFill>
            <a:schemeClr val="accent2"/>
          </a:solidFill>
          <a:ln/>
        </p:spPr>
      </p:sp>
      <p:sp>
        <p:nvSpPr>
          <p:cNvPr id="33" name="Text 29"/>
          <p:cNvSpPr txBox="1"/>
          <p:nvPr/>
        </p:nvSpPr>
        <p:spPr>
          <a:xfrm>
            <a:off x="6720840" y="4791456"/>
            <a:ext cx="4709160" cy="713232"/>
          </a:xfrm>
          <a:prstGeom prst="rect">
            <a:avLst/>
          </a:prstGeom>
          <a:noFill/>
          <a:ln/>
        </p:spPr>
        <p:txBody>
          <a:bodyPr wrap="square" lIns="0" tIns="0" rIns="0" bIns="0" rtlCol="0" anchor="t"/>
          <a:lstStyle/>
          <a:p>
            <a:pPr marL="0" indent="0">
              <a:buNone/>
            </a:pPr>
            <a:r>
              <a:rPr lang="en-US" sz="1000" dirty="0">
                <a:solidFill>
                  <a:schemeClr val="accent5"/>
                </a:solidFill>
                <a:latin typeface="Calibri" pitchFamily="34" charset="0"/>
                <a:ea typeface="Calibri" pitchFamily="34" charset="-122"/>
                <a:cs typeface="Calibri" pitchFamily="34" charset="-120"/>
              </a:rPr>
              <a:t>Revisar el SKU de PostgreSQL y el máximo de réplicas de Container Apps (hoy 3 en producción) solo si se supera el entorno de unas pocas decenas de usuarios concurrentes.</a:t>
            </a:r>
            <a:endParaRPr lang="en-US" sz="1000" dirty="0"/>
          </a:p>
        </p:txBody>
      </p:sp>
      <p:sp>
        <p:nvSpPr>
          <p:cNvPr id="34" name="Shape 30"/>
          <p:cNvSpPr/>
          <p:nvPr/>
        </p:nvSpPr>
        <p:spPr>
          <a:xfrm>
            <a:off x="6492240" y="5696712"/>
            <a:ext cx="73152" cy="73152"/>
          </a:xfrm>
          <a:prstGeom prst="ellipse">
            <a:avLst/>
          </a:prstGeom>
          <a:solidFill>
            <a:schemeClr val="accent2"/>
          </a:solidFill>
          <a:ln/>
        </p:spPr>
      </p:sp>
      <p:sp>
        <p:nvSpPr>
          <p:cNvPr id="35" name="Text 31"/>
          <p:cNvSpPr txBox="1"/>
          <p:nvPr/>
        </p:nvSpPr>
        <p:spPr>
          <a:xfrm>
            <a:off x="6720840" y="5559552"/>
            <a:ext cx="4709160" cy="512064"/>
          </a:xfrm>
          <a:prstGeom prst="rect">
            <a:avLst/>
          </a:prstGeom>
          <a:noFill/>
          <a:ln/>
        </p:spPr>
        <p:txBody>
          <a:bodyPr wrap="square" lIns="0" tIns="0" rIns="0" bIns="0" rtlCol="0" anchor="t"/>
          <a:lstStyle/>
          <a:p>
            <a:pPr marL="0" indent="0">
              <a:buNone/>
            </a:pPr>
            <a:r>
              <a:rPr lang="en-US" sz="1000" dirty="0">
                <a:solidFill>
                  <a:schemeClr val="accent5"/>
                </a:solidFill>
                <a:latin typeface="Calibri" pitchFamily="34" charset="0"/>
                <a:ea typeface="Calibri" pitchFamily="34" charset="-122"/>
                <a:cs typeface="Calibri" pitchFamily="34" charset="-120"/>
              </a:rPr>
              <a:t>Si se despliega Azure AI Search, empezar por el nivel Free (0 €/mes) antes de pasar a Basic (64,90 €/mes).</a:t>
            </a:r>
            <a:endParaRPr lang="en-US" sz="1000" dirty="0"/>
          </a:p>
        </p:txBody>
      </p:sp>
      <p:sp>
        <p:nvSpPr>
          <p:cNvPr id="36" name="Text 32"/>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1000" dirty="0">
                <a:solidFill>
                  <a:schemeClr val="accent6"/>
                </a:solidFill>
                <a:latin typeface="Calibri" pitchFamily="34" charset="0"/>
                <a:ea typeface="Calibri" pitchFamily="34" charset="-122"/>
                <a:cs typeface="Calibri" pitchFamily="34" charset="-120"/>
              </a:rPr>
              <a:t>mIA · Estimación de costes en Azure (producción)</a:t>
            </a:r>
            <a:endParaRPr lang="en-US" sz="1000" dirty="0"/>
          </a:p>
        </p:txBody>
      </p:sp>
      <p:sp>
        <p:nvSpPr>
          <p:cNvPr id="37" name="Text 33"/>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1000" dirty="0">
                <a:solidFill>
                  <a:schemeClr val="accent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mIA Azure Costes">
  <a:themeElements>
    <a:clrScheme name="mIA Azure Costes">
      <a:dk1>
        <a:srgbClr val="1B2B45"/>
      </a:dk1>
      <a:lt1>
        <a:srgbClr val="FFFFFF"/>
      </a:lt1>
      <a:dk2>
        <a:srgbClr val="0B3D5C"/>
      </a:dk2>
      <a:lt2>
        <a:srgbClr val="EAF2F6"/>
      </a:lt2>
      <a:accent1>
        <a:srgbClr val="1C7293"/>
      </a:accent1>
      <a:accent2>
        <a:srgbClr val="F2A541"/>
      </a:accent2>
      <a:accent3>
        <a:srgbClr val="0E9594"/>
      </a:accent3>
      <a:accent4>
        <a:srgbClr val="5D9FBF"/>
      </a:accent4>
      <a:accent5>
        <a:srgbClr val="21295C"/>
      </a:accent5>
      <a:accent6>
        <a:srgbClr val="8FB8CE"/>
      </a:accent6>
      <a:hlink>
        <a:srgbClr val="1C7293"/>
      </a:hlink>
      <a:folHlink>
        <a:srgbClr val="21295C"/>
      </a:folHlink>
    </a:clrScheme>
    <a:fontScheme name="mIA Azure Costes">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790</TotalTime>
  <Words>1954</Words>
  <Application>Microsoft Office PowerPoint</Application>
  <PresentationFormat>Panorámica</PresentationFormat>
  <Paragraphs>230</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Cambria</vt:lpstr>
      <vt:lpstr>mIA Azure Costes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Enrique Castillo Carrasco</cp:lastModifiedBy>
  <cp:revision>1</cp:revision>
  <dcterms:created xsi:type="dcterms:W3CDTF">2026-10-20T17:21:03Z</dcterms:created>
  <dcterms:modified xsi:type="dcterms:W3CDTF">2026-10-21T10:17:04Z</dcterms:modified>
</cp:coreProperties>
</file>