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sion general" id="{acfa2d12-bc65-12c0-ac48-849ab096e13b}">
          <p14:sldIdLst/>
        </p14:section>
        <p14:section name="Default-1" id="{df656388-fadd-c0a4-adb9-e99a617072a1}">
          <p14:sldIdLst>
            <p14:sldId id="257"/>
            <p14:sldId id="258"/>
            <p14:sldId id="259"/>
            <p14:sldId id="260"/>
          </p14:sldIdLst>
        </p14:section>
        <p14:section name="Capas del sistema" id="{a4410203-a0b3-d7d1-726a-a57e4c33bd0c}">
          <p14:sldIdLst/>
        </p14:section>
        <p14:section name="Default-2" id="{adf656ba-d8c6-1ccc-5e25-4d66fc7815ad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Despliegue y operacion" id="{8ba69c12-b416-7dcc-219a-749855115648}">
          <p14:sldIdLst/>
        </p14:section>
        <p14:section name="Default-3" id="{d1e25587-b680-9dab-c5d4-cd1010768613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onexiones e integraciones" id="{d06459b3-c890-d8d7-8b56-21c5090a90cf}">
          <p14:sldIdLst/>
        </p14:section>
        <p14:section name="Default-4" id="{0a1d9e3e-ecd3-3664-67d6-43aecd89e28e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Seguridad en profundidad" id="{763c29ea-82a5-560c-f454-444caf83814c}">
          <p14:sldIdLst/>
        </p14:section>
        <p14:section name="Default-5" id="{6030d1b0-75c9-1a77-b949-ec8e0e57a7a2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Cierre" id="{aa2d6961-e471-8ed4-6a6c-e691d391a9b1}">
          <p14:sldIdLst/>
        </p14:section>
        <p14:section name="Default-6" id="{5cb85db7-8f55-6c05-7e4f-d216fae20d04}">
          <p14:sldIdLst>
            <p14:sldId id="313"/>
            <p14:sldId id="314"/>
            <p14:sldId id="315"/>
            <p14:sldId id="316"/>
            <p14:sldId id="317"/>
          </p14:sldIdLst>
        </p14:section>
        <p14:section name="Responsabilidades y peticiones a IT" id="{0fea9160-73af-76d1-dc29-441d9f5fedff}">
          <p14:sldIdLst/>
        </p14:section>
        <p14:section name="Default-7" id="{5ea0e4f9-de89-8af4-27f2-8fff8e155866}">
          <p14:sldIdLst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el objetivo de la sesion: explicar con transparencia como esta construido mIA y como protege los datos, y dejar claro que se necesita de IT (permisos, recursos, decisiones) y quien es responsable de que. Audiencia tecnica (sistemas, seguridad, infraestructura) -- se entra en detalle verificable, no en marketing. Duracion estimada 45-60 minutos. Todo el contenido de esta presentacion esta respaldado por una auditoria de codigo documentada en docs/auditoria_arquitectura_mia.md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src/mia/settings.py:159-171 (ALL_DOMAINS) lista 11 dominios, todos de RRHH. src/mia/modules/finanzas/__init__.py es un placeholder vacio de 28 lineas sin fuente de datos real. No existe codigo para Administracion, Legal ni Compliance. Esto se repite y se detalla en el bloque de despliegue -- es importante fijarlo aqui para no generar expectativas equivocadas desde la primera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arquitectura completa. El Privacy Gateway (Presidio) es el unico punto de salida hacia el LLM -- build_llm_provider() siempre envuelve cualquier proveedor (src/mia/llm/factory.py:9-40), sin bypass arquitectonico posible. La capa predictiva no tiene ningun paquete de codigo (buscado explicitamente en src/mia/, sin resultados). Los recuadros en naranja claro son terceros fuera de la organizacion.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real: frontend (MSAL) -&gt; token Bearer -&gt; backend valida JWT completo (firma RS256/JWKS, aud, iss, exp -- src/mia/auth/providers.py:142-152) -&gt; permisos por rol (19 permisos granulares) -&gt; enrutado deterministico por dominio (orchestrator.py) -&gt; Privacy Gateway tokeniza PII antes de salir al LLM (solo si enabled=true) -&gt; LLM responde -&gt; se restauran los tokens para el usuario -&gt; guard.clean_speech() quita importes antes de la voz. Aislamiento de sesion verificado con test end-to-end (403 si otro usuario reutiliza el session_id).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frontend/src/core/client.js:62-67 anade Authorization: Bearer. Busqueda exhaustiva de patrones de credenciales en frontend/src/*.js sin coincidencias. frontend/src/core/auth-gate.js implementa el flujo MSAL real (loginRedirect, acquireTokenSilent). Dos carpetas de mundo 2D coexisten (2D y 2d); la vigente en build es 2D segun vite.config.js. Falta CSP/HSTS -- relevante sobre todo para los scripts clasicos (no modulo) del mundo 2D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src/mia/api/schemas.py:6-13 limita longitud de ChatRequest/VoiceRequest. Dos rutas (mail_action, compat.legacy_report) aceptan dict[str, Any] sin esquema. src/mia/api/errors.py:20-30 nunca expone trazas. Sin rate limiting confirmado por busqueda exhaustiva de rate/limit/throttl y de slowapi/fastapi-limiter -- hallazgo de severidad ALTA, riesgo de abuso de coste en LLM/voz y de denegacion de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src/mia/conversation/orchestrator.py:50-64 select_modules(); si nada coincide devuelve TODOS los modulos reales, no un subconjunto reducido. ConversationRepository.get_or_create (src/mia/data/repositories.py:21-33) lanza SessionNotOwnedError si el session_id pertenece a otro user_id -- test tests/test_auth.py:213-218 confirma 403 real cambiando de usuario sobre la misma sesion.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src/mia/llm/openai_responses.py:123 OpenAIResponsesProvider unica, azure=True solo cambia cabecera/URL. LLMRequest.system vs messages (base.py:38-40) se transporta como instructions/input nativos de la API Responses. El envoltorio de dato no confiable (gateway.py:92-110) no se aplica si enabled=false. Sin rate limiting ni control de coste por usuario -- confirmado por busqueda exhaustiva.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src/mia/modules/rrhh/document_indexing.py:386-389 project_payroll_embedding() para nominas. src/mia/modules/rrhh/curriculums/search.py:44-50 acepta allowed:set[int] aplicado en SQL. Acceso es RBAC via ROLE_PERMISSIONS, no por propietario -- resolve_person (common.py:120-140) acepta cualquier nombre/ID sin restriccion a uno mismo. Adecuado para uso interno de RRHH/Administracion, a confirmar que ningun rol de autoservicio de empleado hereda este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src/mia/conversation/guard.py:47-61, regex _MONEY. Comentario en engine.py:294-297: fallo real documentado ("cobro 1.344,59 EUR acabo en la voz"). src/mia/voice/elevenlabs.py:29 solo colapsa espacios y trunca a max_chars, sin redaccion de PII. El endpoint /api/voice/stream tampoco revalida el texto recibido contra este filtro -- confia en que el frontend solo pase texto ya depurado del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Listado completo de subcarpetas de primer nivel de src/mia/ revisado: analytics, api, assets, attachments, auth, connectors, conversation, core, data, diagnostics, ingestion, knowledge, learning, llm, modules, observability, presentation, privacy_gateway, query, reporting, rules, voice. Ninguna es un subsistema predictivo con feature definitions/datasets/snapshots/training/scoring. Comunicar con honestidad: no es un modulo oculto o en progreso silencioso, simplemente no existe todavia.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infra/main.bicep crea Log Analytics, App Insights, Managed Identity, Key Vault (RBAC), PostgreSQL, Container Registry (sin login admin), Storage, Container App, Container Apps Job, Easy Auth condicional. settings.py:331-354 _fail_closed_in_production bloquea 5 escenarios distintos. El detalle (incluido el hallazgo del job de sincronizacion) se ve en la seccion de Despliegue y operacion.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src/mia/observability/logging.py:14 _SENSITIVE_KEYS redacta api_key/authorization/password/secret/token. context.py:11-17 new_request_id(). telemetry.py:11-22 degrada con warning si azure.monitor.opentelemetry no esta instalado. Sin metricAlerts ni actionGroups en infra/main.bicep -- queda en manos de IT configurar alertas sobre los datos que ya se envian a Log Analytics/App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pyproject.toml:10 requires-python&gt;=3.12. .github/workflows/ci.yml:58 node-version 22. El Dockerfile de produccion NO construye el frontend. settings.py:212 spacy_model default es_core_news_lg, cargado perezosamente en presidio_engine.py:48-69. Sin RUN que lo instale en el Dockerfile -- solo constancia documental manual en PRIVACY_GATEWAY_PROGRESS.md. Como el Privacy Gateway es obligatorio en produccion, esto es un hallazgo de fiabilidad del arranque, no de fuga de datos (falla cerrado).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 wheel --wheel-dir /wheels ".[azure]" (Dockerfile:7) resuelve versiones en el momento del build dentro de rangos (fastapi&gt;=0.115,&lt;1 etc.) -- sin uv.lock/requirements.txt, dos builds del mismo commit pueden diferir. El frontend si usa npm ci con package-lock.json real -- reproducible. El modelo spaCy queda fuera de toda automatizacion de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Comandos tomados literalmente de infra/main.bicep (comentario de cabecera) y del Dockerfile/README. Verificacion tras cada fase detallada en docs/mIA_guia_instalacion_operacion.md seccion 3. Health checks reales: /health/live (sin dependencias, src/mia/api/routes/health.py:13) y /health/ready (comprueba BD y migraciones pendientes, linea 19-27).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confirmado por auditoria de codigo: pyproject.toml:57 solo empaqueta src/mia; no existe src/mia/sync/. El modulo real, documentado en README y usado en tests, es mia.ingestion.sync (src/mia/ingestion/sync/__main__.py). Existe un arbol paralelo src/sync/ no empaquetado que tampoco resolveria. Consecuencia: ModuleNotFoundError en cada ejecucion del job tal como esta hoy -- es un defecto de despliegue de una linea, facil de corregir.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Entrada: solo HTTPS 443 al Container App, gestionado por el ingress de Container Apps. Salida: 5 dominios externos (confirmados por auditoria de integraciones, sin ningun otro dominio ni webhook) + PostgreSQL interno. Regla de firewall de PostgreSQL es AllowAzureServices (main.bicep:187-191), no apertura a Internet; el propio comentario del codigo reconoce que la red privada (VNet) es el siguiente paso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Dockerfile:22 CMD ejecuta alembic upgrade head antes de uvicorn, en cada arranque de contenedor -- no es un paso de migracion separado. No hay ventana de mantenimiento formal definida en la configuracion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consolidado de la auditoria de despliegue. El Storage Account para informes ya existe con permisos concedidos pero no esta conectado -- los informes se escriben hoy en /tmp del contenedor, lo que puede dar problemas con mas de 1 replica en produccion (maxReplicas isProd ? 3 :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priorizada completa en docs/mIA_guia_instalacion_operacion.md seccion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completo en docs/mIA_catalogo_integraciones.md. Sin ningun verify=False en ningun cliente HTTP del repositorio -- TLS siempre validado. Conectia/A3 esta correctamente marcado como no implementado en el propio codigo (interfaz abstracta con NotImplementedError), igual que Azure AI Search/ML (contratos vacios).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src/mia/connectors/sharepoint/auth.py:65 scope .default. settings.py:126-129 timeout 30s, max_retries 5, concurrency 4. Certificado en Key Vault via Managed Identity. Permiso minimo recomendado Sites.Selected -- no verificable desde el codigo, requiere revision del App Registration en el Portal de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docs/arquitectura.md:159-163, citado literalmente en la auditoria: "sin ella, Mail.Read de aplicacion da acceso a todos los buzones del tenant". No esta en infra/main.bicep ni hay script de Exchange Online en el repo. Accion requerida de IT antes de produccion -- hallazgo critico, el mas importante de toda la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src/mia/auth/providers.py:84-167. 7 escenarios de test incluyendo key confusion. infra/main.bicep solo contempla dev/easyauth -- el modo entra esta implementado y probado pero no conectado a la infraestructura Azure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src/mia/llm/openai_responses.py. Timeout 45s, turn_budget 120s, 3 reintentos con backoff. Fallos propagan como LLMError y el motor responde con frase generica, nunca un stack trace. DPA/retencion/no-entrenamiento no verificable desde el codigo -- requiere confirmacion contractual.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src/mia/voice/elevenlabs.py:23,29. Si cae, 503 al frontend sin excepcion sin control. Cache solo de frases cortas repetidas (&lt;=160 caracteres) -- no cachea respuestas con datos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src/mia/connectors/a3/__init__.py:1-10 docstring explicito. src/mia/knowledge/__init__.py y src/mia/analytics/__init__.py: clases abstractas con NotImplementedError. Ni infra/main.bicep ni pyproject.toml referencian Azure AI Search/ML.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proteccion via Privacy Gateway (columna LLM) solo se aplica si MIA_PRIVACY_GATEWAY__ENABLED=true -- obligatorio en produccion por el validador de arranque.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scope .default depende enteramente de lo que un administrador concedio manualmente en el tenant -- imposible auditar el minimo privilegio solo desde el codigo.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docs/mIA_catalogo_integraciones.md seccion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completa en docs/mIA_catalogo_integraciones.md seccion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amenazas de alto nivel, no un arbol de ataque exhaustivo. Los activos mas criticos son los datos de RRHH (nominas, documentos medicos) y las credenciales compartidas. Mapeo STRIDE completo para citar de palabra: Spoofing mitigado (JWT completo), Tampering mitigado (TLS + firma), Repudiation cubierta (auditoria con user_id/accion/resultado), Information disclosure parcialmente mitigada (Presidio, pero enabled=false por defecto fuera de produccion), Denial of Service SIN mitigar (sin rate limiting en ninguna ruta), Elevation of privilege mitigada (permisos a nivel de dato, no solo de ruta).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src/mia/settings.py:331-334, test tests/test_auth.py:208-210. EasyAuthIdentityProvider lee x-ms-client-principal (providers.py:50-81), premisa de seguridad documentada: solo fiable detras de Easy Auth real (Azure elimina esa cabecera si llega directa del cliente). infra/main.bicep:333 easyAuthEnabled ? 'easyauth' : 'dev'.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src/mia/auth/providers.py:84-167. tests/test_auth.py:148-205. Es la cobertura de test mas fuerte de los tres modos de autenticacion. getAccessToken() en auth-gate.js usa acquireTokenSilent con fallback a acquireTokenRedirect.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src/mia/auth/context.py:17-49 (Permission), 75-95 (ROLE_PERMISSIONS). tests/test_auth.py:34-90. UserContext.permissions es la union de permisos de todos los roles del usuario (context.py:115-120); has()/require() son el unico punto de comprobacion.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src/mia/modules/rrhh/nominas/tools.py:155,425,528,641. src/mia/modules/rrhh/documentos/tools.py:116-117,510-512. FIR-001 en src/rules/catalog.py:168-173, in_prompt=True -- sin verificacion de puerta de codigo equivalente encontrada en el tiempo de esta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src/mia/privacy_gateway/custom_recognizers.py:26-103, checksum real para DNI/NIE, IBAN mod-97, Seguridad Social. llm/factory.py:9-40 comentario explicito: ningun modulo nuevo puede olvidarse de pasar por la proteccion. audit.py:3: nunca registra el valor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token_vault.py:38-74. gateway.py:267-287 anonimizacion irreversible para embeddings. settings.py:213-215 fail_open=False, bloqueado en produccion en linea 346-347. settings.py:200-204 enabled=False por defecto -- gateway.py:191-194 con enabled=false NO ejecuta Presidio en absoluto. Este es uno de los 2-3 hallazgos mas importantes de toda la auditoria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infra/main.bicep:193, :266-269. Gestion de claves: Key Vault con RBAC, soft-delete 30 dias, purge protection en produccion.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settings.py:331-354: auth.mode=dev, pseudonym_key de desarrollo, llm.provider=fake, privacy_gateway.enabled=false, privacy_gateway.fail_open=true -- las 5 bloquean el arranque (ValueError) si environment=production.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gateway.py:92-110 wrap_untrusted(). prompt_injection_guard.py:8-15 reconoce el limite. scan_injection() cuenta coincidencias y las audita (gateway.py:97) pero nunca bloquea.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correo/tools.py:341-356 _send_blocker(): send_enabled, no mismo turno, confirmacion lexica, no enviado ya, buzon de la sesion. Linea 371-376: bloqueo de destinatarios no-reply.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settings.py:149-156. nominas/tools.py:3-7,48 (RULE). data/hr.py:222, documentos/tools.py:45,526. engine.py:617-627 AuditRepository registra cada ejecucion con recurso auditado.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settings.py:71 max_output_tokens=1200. llm/tiers.py:12-17. Repetido deliberadamente aqui porque es relevante tanto a nivel de API como de diseno del motor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engine.py:617-627 AuditRepository. audit.py:3. logging.py:14,24-28 _SENSITIVE_KEYS y _redact. Retencion de logs: 30 dias en Log Analytics Workspace (main.bicep:109), decision de politica de retencion mas larga pendiente con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attachments/validation.py: allowlist extensiones/MIME, denylist .exe/.bat/etc, magic bytes, sanitize_filename, LocalStorage._resolve anti path-traversal. Sin antivirus/malware scan de adjuntos (confirmado). max_files configurado pero nunca aplicado en el codigo.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repositories.py:21-33 SessionNotOwnedError. test_auth.py:213-218 test end-to-end. token_vault.py:39-40,55-63. test_sync.py:224-228 exclusion de cuentas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src/mia/analytics/__init__.py:30-34 comentario explicito sobre Reglamento 2024/1689 de alto riesgo. DPIA y base legal no verificables desde el codigo -- requieren al responsable de proteccion de datos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main.bicep:175. Sin alertas automatizadas (ver capa de observabilidad) significa que la deteccion de un incidente depende hoy de revision manual de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Busqueda explicita de verify=False en todo src/: sin resultados. gateway.py: untrusted=True para role=tool. services.py:30 reutiliza el mismo CertificateTokenProvider para SharePoint y Graph 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marca explicitamente lo que esta auditoria NO puede confirmar por si sola -- es responsabilidad de IT y del equipo legal del cliente, no del desarrollador.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tabla resumen de las 5 auditorias paralelas realizadas sobre el codigo. Cada numero tiene respaldo en citas fichero:linea documentadas en docs/auditoria_detalle/.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6 hallazgos de mayor prioridad, extraidos de docs/auditoria_arquitectura_mia.md seccion 5. El orden no es estrictamente de severidad tecnica sino de lo que bloquea avanzar hacia produccion.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completa con 21 items en docs/auditoria_arquitectura_mia.md seccion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citadas sin valores, consistente con la politica de nunca exponer secretos en esta presentacion.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condensada para la presentacion -- la version completa en el documento tiene columna "Compartido" ademas de IT/Desarrollador.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completa de 8 peticiones en docs/mIA_guia_instalacion_operacion.md seccion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docs/mIA_guia_instalacion_operacion.md seccion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docs/mIA_guia_instalacion_operacion.md seccion 11. .github/workflows/ci.yml construye la imagen pero no la publica ni despliega.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Ultima diapositiva de contenido antes del cierre. Enlazar directamente con la diapositiva final (Gracias) para abrir turno de preguntas sobre estas 5 decisiones.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Recapitular los 3-5 hallazgos de prioridad alta y las decisiones que se necesitan de IT con fecha deseada. Ofrecer turno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6C2F2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393192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DF6847">
              <a:alpha val="18000"/>
            </a:srgbClr>
          </a:solidFill>
          <a:ln/>
        </p:spPr>
      </p:sp>
      <p:pic>
        <p:nvPicPr>
          <p:cNvPr id="4" name="Image 0" descr="C:/Users/enriq/Desktop/Proyectos/Sunset/mIA/frontend/public/assets/loading/sunset-beach-club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BEACH CLUB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 — Arquitectura y seguridad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técnica para el equipo de IT — revisión previa al paso a producción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corporativo · Autenticación y autorización · Protección de datos personales (Presidio) · Cifrado y gestión de secretos · Integraciones con SharePoint, Microsoft Graph, OpenAI y ElevenLabs · Auditoría y operación segura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octubre de 2026 · Confidencial · Uso interno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09728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6C2F2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C7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general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mIA y cómo fluye una conversación de extremo a extremo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GENERAL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mIA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corporativo, multiusuario y multilenguaje (texto y voz)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es el primer dominio implementado; Finanzas, Administración, Legal y Compliance son dominios previstos en la arquitectura, no implementados todavía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interfaces sobre un mismo núcleo: mundo 2D, mundo 3D y holograma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modular: capa conversacional, dominios de negocio y capa predictiva separados por diseño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0"/>
            <a:ext cx="4282135" cy="1563624"/>
          </a:xfrm>
          <a:prstGeom prst="roundRect">
            <a:avLst>
              <a:gd name="adj" fmla="val 4678"/>
            </a:avLst>
          </a:prstGeom>
          <a:solidFill>
            <a:srgbClr val="F2E8DA"/>
          </a:solidFill>
          <a:ln/>
        </p:spPr>
      </p:sp>
      <p:sp>
        <p:nvSpPr>
          <p:cNvPr id="6" name="Text 4"/>
          <p:cNvSpPr/>
          <p:nvPr/>
        </p:nvSpPr>
        <p:spPr>
          <a:xfrm>
            <a:off x="7470648" y="1280160"/>
            <a:ext cx="40626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8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70648" y="250545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de RRHH implementados con código real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60920" y="2971800"/>
            <a:ext cx="4282135" cy="1563624"/>
          </a:xfrm>
          <a:prstGeom prst="roundRect">
            <a:avLst>
              <a:gd name="adj" fmla="val 4678"/>
            </a:avLst>
          </a:prstGeom>
          <a:solidFill>
            <a:srgbClr val="F2E8DA"/>
          </a:solidFill>
          <a:ln/>
        </p:spPr>
      </p:sp>
      <p:sp>
        <p:nvSpPr>
          <p:cNvPr id="9" name="Text 7"/>
          <p:cNvSpPr/>
          <p:nvPr/>
        </p:nvSpPr>
        <p:spPr>
          <a:xfrm>
            <a:off x="7470648" y="2971800"/>
            <a:ext cx="40626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78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70648" y="419709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dominios anunciados (RRHH) tiene código hoy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60920" y="4663440"/>
            <a:ext cx="4282135" cy="1563624"/>
          </a:xfrm>
          <a:prstGeom prst="roundRect">
            <a:avLst>
              <a:gd name="adj" fmla="val 4678"/>
            </a:avLst>
          </a:prstGeom>
          <a:solidFill>
            <a:srgbClr val="F2E8DA"/>
          </a:solidFill>
          <a:ln/>
        </p:spPr>
      </p:sp>
      <p:sp>
        <p:nvSpPr>
          <p:cNvPr id="12" name="Text 10"/>
          <p:cNvSpPr/>
          <p:nvPr/>
        </p:nvSpPr>
        <p:spPr>
          <a:xfrm>
            <a:off x="7470648" y="4663440"/>
            <a:ext cx="40626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F6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70648" y="588873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seguridad verificados en esta auditoría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GENERAL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global en capas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786447" y="1823720"/>
            <a:ext cx="9144" cy="33866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8099" y="1874181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Bearer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24253" y="2479887"/>
            <a:ext cx="320913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6447" y="2797387"/>
            <a:ext cx="9144" cy="33866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24253" y="3453553"/>
            <a:ext cx="320913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0643" y="3453553"/>
            <a:ext cx="320913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6447" y="3771053"/>
            <a:ext cx="9144" cy="33866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6447" y="4744720"/>
            <a:ext cx="9144" cy="33866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24253" y="4427220"/>
            <a:ext cx="320913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6447" y="3771053"/>
            <a:ext cx="4767848" cy="33866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786447" y="1188720"/>
            <a:ext cx="7931132" cy="3556000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0492" y="28478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Entra 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517033" y="3453553"/>
            <a:ext cx="916894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7305" y="3215809"/>
            <a:ext cx="11363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Gateway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1188720"/>
            <a:ext cx="2475613" cy="635000"/>
          </a:xfrm>
          <a:prstGeom prst="roundRect">
            <a:avLst>
              <a:gd name="adj" fmla="val 1008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" y="1188720"/>
            <a:ext cx="240246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(2D / 3D / Holograma)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162387"/>
            <a:ext cx="2475613" cy="635000"/>
          </a:xfrm>
          <a:prstGeom prst="roundRect">
            <a:avLst>
              <a:gd name="adj" fmla="val 1008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" y="2162387"/>
            <a:ext cx="240246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45166" y="2162387"/>
            <a:ext cx="1925477" cy="635000"/>
          </a:xfrm>
          <a:prstGeom prst="roundRect">
            <a:avLst>
              <a:gd name="adj" fmla="val 10080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1742" y="2162387"/>
            <a:ext cx="185232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(Entra ID)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136053"/>
            <a:ext cx="2475613" cy="635000"/>
          </a:xfrm>
          <a:prstGeom prst="roundRect">
            <a:avLst>
              <a:gd name="adj" fmla="val 1008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" y="3136053"/>
            <a:ext cx="240246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45166" y="3136053"/>
            <a:ext cx="1925477" cy="635000"/>
          </a:xfrm>
          <a:prstGeom prst="roundRect">
            <a:avLst>
              <a:gd name="adj" fmla="val 10080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1742" y="3136053"/>
            <a:ext cx="185232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(Presidio)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91556" y="3136053"/>
            <a:ext cx="1925477" cy="635000"/>
          </a:xfrm>
          <a:prstGeom prst="roundRect">
            <a:avLst>
              <a:gd name="adj" fmla="val 1008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8132" y="3136053"/>
            <a:ext cx="185232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LLM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109720"/>
            <a:ext cx="2475613" cy="635000"/>
          </a:xfrm>
          <a:prstGeom prst="roundRect">
            <a:avLst>
              <a:gd name="adj" fmla="val 1008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5216" y="4109720"/>
            <a:ext cx="240246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(RRHH)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45166" y="4109720"/>
            <a:ext cx="1925477" cy="635000"/>
          </a:xfrm>
          <a:prstGeom prst="roundRect">
            <a:avLst>
              <a:gd name="adj" fmla="val 1008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81742" y="4109720"/>
            <a:ext cx="185232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RAG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91556" y="4109720"/>
            <a:ext cx="1925477" cy="635000"/>
          </a:xfrm>
          <a:prstGeom prst="roundRect">
            <a:avLst>
              <a:gd name="adj" fmla="val 1008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28132" y="4109720"/>
            <a:ext cx="185232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(ElevenLabs)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37946" y="4109720"/>
            <a:ext cx="1925477" cy="635000"/>
          </a:xfrm>
          <a:prstGeom prst="roundRect">
            <a:avLst>
              <a:gd name="adj" fmla="val 10080"/>
            </a:avLst>
          </a:prstGeom>
          <a:solidFill>
            <a:srgbClr val="EDEDED"/>
          </a:solidFill>
          <a:ln w="15875">
            <a:solidFill>
              <a:srgbClr val="8D7B70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74522" y="4109720"/>
            <a:ext cx="185232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 / 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existe hoy)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083387"/>
            <a:ext cx="2475613" cy="635000"/>
          </a:xfrm>
          <a:prstGeom prst="roundRect">
            <a:avLst>
              <a:gd name="adj" fmla="val 10080"/>
            </a:avLst>
          </a:prstGeom>
          <a:solidFill>
            <a:srgbClr val="FBF7F0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85216" y="5083387"/>
            <a:ext cx="240246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33927" y="1188720"/>
            <a:ext cx="2567303" cy="635000"/>
          </a:xfrm>
          <a:prstGeom prst="roundRect">
            <a:avLst>
              <a:gd name="adj" fmla="val 10080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470503" y="1188720"/>
            <a:ext cx="249415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Graph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(terceros)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433927" y="3136053"/>
            <a:ext cx="2567303" cy="635000"/>
          </a:xfrm>
          <a:prstGeom prst="roundRect">
            <a:avLst>
              <a:gd name="adj" fmla="val 10080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470503" y="3136053"/>
            <a:ext cx="249415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ElevenLabs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(terceros)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E8DA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" y="5833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propio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2608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7C78B"/>
          </a:solidFill>
          <a:ln/>
        </p:spPr>
      </p:sp>
      <p:sp>
        <p:nvSpPr>
          <p:cNvPr id="47" name="Text 45"/>
          <p:cNvSpPr/>
          <p:nvPr/>
        </p:nvSpPr>
        <p:spPr>
          <a:xfrm>
            <a:off x="3182112" y="5833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seguridad clave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DEBD0"/>
          </a:solidFill>
          <a:ln/>
        </p:spPr>
      </p:sp>
      <p:sp>
        <p:nvSpPr>
          <p:cNvPr id="49" name="Text 47"/>
          <p:cNvSpPr/>
          <p:nvPr/>
        </p:nvSpPr>
        <p:spPr>
          <a:xfrm>
            <a:off x="5925312" y="5833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 externo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6384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DEDED"/>
          </a:solidFill>
          <a:ln/>
        </p:spPr>
      </p:sp>
      <p:sp>
        <p:nvSpPr>
          <p:cNvPr id="51" name="Text 49"/>
          <p:cNvSpPr/>
          <p:nvPr/>
        </p:nvSpPr>
        <p:spPr>
          <a:xfrm>
            <a:off x="8119872" y="5833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implementado hoy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GENERAL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una petición, de extremo a extremo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 flipV="1">
            <a:off x="1309144" y="1586285"/>
            <a:ext cx="2057835" cy="223630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06426" y="1959003"/>
            <a:ext cx="357884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66979" y="2331720"/>
            <a:ext cx="2236777" cy="745435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426" y="3449872"/>
            <a:ext cx="357884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3203" y="3449872"/>
            <a:ext cx="357884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0534" y="3822590"/>
            <a:ext cx="9144" cy="745435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9980" y="4940742"/>
            <a:ext cx="357884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077311" y="3077155"/>
            <a:ext cx="9144" cy="223630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077311" y="1586285"/>
            <a:ext cx="9144" cy="223630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77155"/>
            <a:ext cx="1521009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" y="3077155"/>
            <a:ext cx="144785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27533" y="1586285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4109" y="1586285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MSAL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(Entra ID)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4310" y="1586285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0886" y="1586285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Token JWT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header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27533" y="3077155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4109" y="3077155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API valida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firma/aud/iss/exp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4310" y="3077155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0886" y="3077155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Permisos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1087" y="3077155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37663" y="3077155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Enrutado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dominio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01087" y="4568024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37663" y="4568024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Privacy 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 PII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37865" y="4568024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FDEBD0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74441" y="4568024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(OpenAI/Azure)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37865" y="3077155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74441" y="3077155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Respuesta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restaurada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37865" y="1586285"/>
            <a:ext cx="1878893" cy="745435"/>
          </a:xfrm>
          <a:prstGeom prst="roundRect">
            <a:avLst>
              <a:gd name="adj" fmla="val 8587"/>
            </a:avLst>
          </a:prstGeom>
          <a:solidFill>
            <a:srgbClr val="FDEBD0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74441" y="1586285"/>
            <a:ext cx="1805741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Voz (sin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7C78B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" y="5833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control de seguridad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7472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DEBD0"/>
          </a:solidFill>
          <a:ln/>
        </p:spPr>
      </p:sp>
      <p:sp>
        <p:nvSpPr>
          <p:cNvPr id="36" name="Text 34"/>
          <p:cNvSpPr/>
          <p:nvPr/>
        </p:nvSpPr>
        <p:spPr>
          <a:xfrm>
            <a:off x="3730752" y="5833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 la organización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62544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salto queda auditado con request_id de correlación (src/mia/observability/context.py); la sesión esta aislada por (session_id, user_id).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09728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6C2F2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C7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del sistema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por cada capa, con su estado real verificado en código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FRONTEND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2D, 3D, holograma y voz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mundos (Vite) comparten sesión y hablan con la misma API (/api/chat/stream, /api/voice/stream)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transportado solo como Authorization: Bearer — nunca en cookies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clave de API (OpenAI/ElevenLabs) expuesta en el cliente — todo pasa por el backend como proxy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MSAL.js real para el login, con pantalla de “acceso restringido” si el usuario no tiene rol asignado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solo via Bearer header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secretos en el cliente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CSP / HSTS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/ Backend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principales con validación Pydantic y límites de longitud (mensaje, adjuntos, sesión)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cerrado a localhost por defecto; sin guardarraíl “fail-closed” específico en producción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sin fuga de trazas ni rutas de fichero al cliente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rate limiting en ninguna ruta — incluidas /api/chat/stream y /api/voice/stream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7837">
              <a:alpha val="12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de entrada (Pydantic)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sin fuga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MOTOR CONVERSACIONAL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conversacional y enrutado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Enrutado determinista por vocabulario (no por LLM) — decisión explícita para evitar coste/latencia extra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aislada por (session_id, user_id): reutilizar la sesión de otro usuario devuelve 403 real, con test end-to-end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modo “asistente general” de menor privilegio: una pregunta ambigua recibe el catálogo completo de herramientas permitidas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real de acceso sigue siendo el permiso del usuario, no el enrutado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sesion por usuario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Enrutado deterministico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sandbox de menor privilegio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LLM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clase sirve OpenAI y Azure OpenAI — Azure OpenAI es un camino de primera clase, no un añadido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real system/instructions vs. datos de herramientas, a nivel de transporte de la API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herramientas (correo, SharePoint) se envuelven como “dato no confiable” — solo si el Privacy Gateway está activo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8 rondas de herramientas y 120s de presupuesto por turno; proveedor “fake” prohibido en producción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0160"/>
            <a:ext cx="4282135" cy="1563624"/>
          </a:xfrm>
          <a:prstGeom prst="roundRect">
            <a:avLst>
              <a:gd name="adj" fmla="val 4678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470648" y="1280160"/>
            <a:ext cx="40626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70648" y="250545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de herramientas máx. por turno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0920" y="2971800"/>
            <a:ext cx="4282135" cy="1563624"/>
          </a:xfrm>
          <a:prstGeom prst="roundRect">
            <a:avLst>
              <a:gd name="adj" fmla="val 4678"/>
            </a:avLst>
          </a:prstGeom>
          <a:solidFill>
            <a:srgbClr val="F2E8DA"/>
          </a:solidFill>
          <a:ln/>
        </p:spPr>
      </p:sp>
      <p:sp>
        <p:nvSpPr>
          <p:cNvPr id="11" name="Text 9"/>
          <p:cNvSpPr/>
          <p:nvPr/>
        </p:nvSpPr>
        <p:spPr>
          <a:xfrm>
            <a:off x="7470648" y="2971800"/>
            <a:ext cx="40626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70648" y="419709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 tiempo por turno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60920" y="4663440"/>
            <a:ext cx="4282135" cy="1563624"/>
          </a:xfrm>
          <a:prstGeom prst="roundRect">
            <a:avLst>
              <a:gd name="adj" fmla="val 4678"/>
            </a:avLst>
          </a:prstGeom>
          <a:solidFill>
            <a:srgbClr val="F2E8DA"/>
          </a:solidFill>
          <a:ln/>
        </p:spPr>
      </p:sp>
      <p:sp>
        <p:nvSpPr>
          <p:cNvPr id="14" name="Text 12"/>
          <p:cNvSpPr/>
          <p:nvPr/>
        </p:nvSpPr>
        <p:spPr>
          <a:xfrm>
            <a:off x="7470648" y="4663440"/>
            <a:ext cx="40626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5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70648" y="588873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coste/tasa por usuario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CONOCIMIENTO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 y RAG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 CVs siempre; nóminas y documentos solo si se activa explícitamente MIA_DATA__INDEX_SENSITIVE_CONTENT (false por defecto)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específica para nóminas antes de vectorizar: proyección sin cifras ni datos personales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de acceso a nivel de consulta SQL (CVs), no en memoria tras recuperar todo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acceso por rol (RBAC), no por propietario del registro — un rol RRHH ve documentos de cualquier empleado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de acceso en la query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Minimizacion antes de embeddings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“solo mis datos” (vs. rol)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VOZ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voz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en streaming; caché solo de frases cortas repetidas (nunca respuestas con datos variables)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guard.clean_speech() bloquea compromisos imposibles e importes monetarios — nacido de un incidente real documentado en el código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que llega a la voz ya tiene los tokens de Presidio restaurados a su valor real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filtra PII general (nombres, DNI, email, datos médicos) antes de salir a este proveedor externo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dicen importes de nomina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no persiste datos variables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general filtrada antes de ElevenLabs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PREDICTIVO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predictiva / 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5454">
              <a:alpha val="15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existe / brecha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arquitectura: subsistema predictivo separado de la capa LLM y de los dominios transaccionales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ningún paquete predictive/ml/forecasting en el código — búsqueda exhaustiva sin resultados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artefacto de despliegue (Bicep, Dockerfile, CI) referencia entrenamiento, registro de modelos o scoring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íntegramente aspiracional hoy: no hay nada que auditar en producción porque no se despliega nada de esto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5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subsistema predictivo tiene código o infraestructura hoy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INFRAESTRUCTURA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y despliegue (resumen)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+ PostgreSQL Flexible Server + Key Vault + Managed Identity, definidos como código (Bicep)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secreto en claro en la infraestructura como código: todo vive en Key Vault, inyectado por identidad administrada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se niega a arrancar sin configuración mínima de seguridad — verificado en código, no solo en documentación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completo de despliegue y operación se cubre en la sección siguiente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2464308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3F8D72"/>
          </a:solidFill>
          <a:ln/>
        </p:spPr>
      </p:sp>
      <p:sp>
        <p:nvSpPr>
          <p:cNvPr id="9" name="Text 7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Vault + Managed Identity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8936" y="1709928"/>
            <a:ext cx="4026103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solo lectura de secretos, sin credenciales embebidas.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3845052"/>
            <a:ext cx="4282135" cy="2464308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88936" y="3954780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3F8D72"/>
          </a:solidFill>
          <a:ln/>
        </p:spPr>
      </p:sp>
      <p:sp>
        <p:nvSpPr>
          <p:cNvPr id="13" name="Text 11"/>
          <p:cNvSpPr/>
          <p:nvPr/>
        </p:nvSpPr>
        <p:spPr>
          <a:xfrm>
            <a:off x="7488936" y="3954780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en producción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88936" y="4320540"/>
            <a:ext cx="4026103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comprobaciones bloquean el arranque si falta seguridad mínima.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— OBSERVABILIDAD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estructurado (structlog) con redacción automática de claves sensibles antes de escribir cualquier log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peticiones por request_id en cada línea de log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opcional — si no está configurado, degrada con seguridad sin romper el arranque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ninguna alerta automatizada definida como código: hay visibilidad, no hay reacción automática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Redaccion de secretos en logs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 por request_id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automatizadas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09728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6C2F2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C7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y operación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Prerrequisitos, instaladores, procesos y hardening — con comandos reales del repositorio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PRERREQUISITOS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Prerrequisitos por entorno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(requires-python en pyproject.toml); Node 22 solo para compilar el frontend en CI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Azure: Container Apps, PostgreSQL Flexible Server, Key Vault, Managed Identity, Container Registry, Storage, Log Analytics, Application Insights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instalación: Contributor + asignación de roles sobre el Resource Group (para que el Bicep pueda crear los RBAC)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NLP de Presidio (es_core_news_lg, ~500MB) no se instala en ningún paso automatizado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Prerrequisitos de código (Python/Node)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 (Bicep)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del modelo de Presidio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INSTALADORES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Instaladores y dependencias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035319" y="1561437"/>
            <a:ext cx="382566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04565" y="1561437"/>
            <a:ext cx="382566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3810" y="1561437"/>
            <a:ext cx="382566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35319" y="3151698"/>
            <a:ext cx="382566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04565" y="3151698"/>
            <a:ext cx="382566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35319" y="4741959"/>
            <a:ext cx="382566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188720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" y="1188720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(rangos, sin lockfile)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7885" y="1188720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54461" y="1188720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wheel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(etapa build)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87131" y="1188720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3707" y="1188720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Docker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(usuario no-root)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56376" y="1188720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92952" y="1188720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778981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" y="2778981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package-lock.json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(fijado)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17885" y="2778981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54461" y="2778981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(CI, reproducible)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87131" y="2778981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23707" y="2778981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(estático)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69242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" y="4369242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(Alembic)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17885" y="4369242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54461" y="4369242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upgrade head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cada arranque)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87131" y="4369242"/>
            <a:ext cx="2486679" cy="745435"/>
          </a:xfrm>
          <a:prstGeom prst="roundRect">
            <a:avLst>
              <a:gd name="adj" fmla="val 8587"/>
            </a:avLst>
          </a:prstGeom>
          <a:solidFill>
            <a:srgbClr val="F5C6C6"/>
          </a:solidFill>
          <a:ln w="15875">
            <a:solidFill>
              <a:srgbClr val="B95454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23707" y="4369242"/>
            <a:ext cx="2413527" cy="74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manual, no CI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7C78B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5833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(lockfile real)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DEBD0"/>
          </a:solidFill>
          <a:ln/>
        </p:spPr>
      </p:sp>
      <p:sp>
        <p:nvSpPr>
          <p:cNvPr id="33" name="Text 31"/>
          <p:cNvSpPr/>
          <p:nvPr/>
        </p:nvSpPr>
        <p:spPr>
          <a:xfrm>
            <a:off x="3913632" y="5833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lockfile — riesgo de build no reproducible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61264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C6C6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6108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manual pendiente de automatizar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INSTALACIÓN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instalación — comandos reales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Aprovisionar infraestructura con los parámetros de producción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y push de la imagen Docker al Container Registry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Verificar /health/live y /health/ready tras el despliegue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Verificar el job de sincronización (tras corregir el comando, ver hallazgo en la sección de hallazgos)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1708"/>
            </a:avLst>
          </a:prstGeom>
          <a:solidFill>
            <a:srgbClr val="2B2B2B"/>
          </a:solidFill>
          <a:ln/>
        </p:spPr>
      </p:sp>
      <p:sp>
        <p:nvSpPr>
          <p:cNvPr id="6" name="Text 4"/>
          <p:cNvSpPr/>
          <p:nvPr/>
        </p:nvSpPr>
        <p:spPr>
          <a:xfrm>
            <a:off x="7525512" y="1362456"/>
            <a:ext cx="3952951" cy="481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deployment group create -g &lt;grupo&gt; \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infra/main.bicep -p infra/main.prod.bicepparam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&lt;registro&gt;.azurecr.io/mia:&lt;tag&gt; .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&lt;registro&gt;.azurecr.io/mia:&lt;tag&gt;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https://&lt;container-app-url&gt;/health/ready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200 esperado: confirma conexion real a PostgreSQL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PROCESOS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y servicios en ejecución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78904" y="2123902"/>
            <a:ext cx="9144" cy="72736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04565" y="2123902"/>
            <a:ext cx="9144" cy="72736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8904" y="2123902"/>
            <a:ext cx="3825660" cy="72736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060528" cy="935182"/>
          </a:xfrm>
          <a:prstGeom prst="roundRect">
            <a:avLst>
              <a:gd name="adj" fmla="val 6844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1188720"/>
            <a:ext cx="2987376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(Container App)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· puerto 8000 · no-root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readiness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74300" y="1188720"/>
            <a:ext cx="3060528" cy="935182"/>
          </a:xfrm>
          <a:prstGeom prst="roundRect">
            <a:avLst>
              <a:gd name="adj" fmla="val 6844"/>
            </a:avLst>
          </a:prstGeom>
          <a:solidFill>
            <a:srgbClr val="F5C6C6"/>
          </a:solidFill>
          <a:ln w="15875">
            <a:solidFill>
              <a:srgbClr val="B95454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0876" y="1188720"/>
            <a:ext cx="2987376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 sincronización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*/10 * * * *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comando incorrecto hoy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99961" y="1188720"/>
            <a:ext cx="3060528" cy="935182"/>
          </a:xfrm>
          <a:prstGeom prst="roundRect">
            <a:avLst>
              <a:gd name="adj" fmla="val 6844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36537" y="1188720"/>
            <a:ext cx="2987376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adjuntos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interno, cada hora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74300" y="2851265"/>
            <a:ext cx="3060528" cy="779318"/>
          </a:xfrm>
          <a:prstGeom prst="roundRect">
            <a:avLst>
              <a:gd name="adj" fmla="val 8213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10876" y="2851265"/>
            <a:ext cx="2987376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Graph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51265"/>
            <a:ext cx="3060528" cy="779318"/>
          </a:xfrm>
          <a:prstGeom prst="roundRect">
            <a:avLst>
              <a:gd name="adj" fmla="val 8213"/>
            </a:avLst>
          </a:prstGeom>
          <a:solidFill>
            <a:srgbClr val="FBF7F0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" y="2851265"/>
            <a:ext cx="2987376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(TLS)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74300" y="4202084"/>
            <a:ext cx="3060528" cy="623455"/>
          </a:xfrm>
          <a:prstGeom prst="roundRect">
            <a:avLst>
              <a:gd name="adj" fmla="val 10267"/>
            </a:avLst>
          </a:prstGeom>
          <a:solidFill>
            <a:srgbClr val="EDEDED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10876" y="4202084"/>
            <a:ext cx="2987376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de informes masivos: desactivado por defecto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E8DA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5833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C6C6"/>
          </a:solidFill>
          <a:ln/>
        </p:spPr>
      </p:sp>
      <p:sp>
        <p:nvSpPr>
          <p:cNvPr id="22" name="Text 20"/>
          <p:cNvSpPr/>
          <p:nvPr/>
        </p:nvSpPr>
        <p:spPr>
          <a:xfrm>
            <a:off x="2999232" y="5833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 confirmado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DEDED"/>
          </a:solidFill>
          <a:ln/>
        </p:spPr>
      </p:sp>
      <p:sp>
        <p:nvSpPr>
          <p:cNvPr id="24" name="Text 22"/>
          <p:cNvSpPr/>
          <p:nvPr/>
        </p:nvSpPr>
        <p:spPr>
          <a:xfrm>
            <a:off x="5559552" y="5833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Desactivado por configuración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62544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infra/main.bicep:431 ejecuta "python -m mia.sync"; el módulo real es mia.ingestion.sync — el job falla hoy en cada ejecución en Azure.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70187" y="3448743"/>
            <a:ext cx="573849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087376" y="1396538"/>
            <a:ext cx="3060528" cy="259772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087376" y="3266902"/>
            <a:ext cx="3060528" cy="72736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059084"/>
            <a:ext cx="1721547" cy="779318"/>
          </a:xfrm>
          <a:prstGeom prst="roundRect">
            <a:avLst>
              <a:gd name="adj" fmla="val 8213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3059084"/>
            <a:ext cx="1648395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44036" y="3059084"/>
            <a:ext cx="2486679" cy="935182"/>
          </a:xfrm>
          <a:prstGeom prst="roundRect">
            <a:avLst>
              <a:gd name="adj" fmla="val 6844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612" y="3059084"/>
            <a:ext cx="2413527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443 · allowInsecure=false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04565" y="1396538"/>
            <a:ext cx="2486679" cy="779318"/>
          </a:xfrm>
          <a:prstGeom prst="roundRect">
            <a:avLst>
              <a:gd name="adj" fmla="val 8213"/>
            </a:avLst>
          </a:prstGeom>
          <a:solidFill>
            <a:srgbClr val="FBF7F0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1141" y="1396538"/>
            <a:ext cx="2413527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forzado (?ssl=require)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04565" y="2435629"/>
            <a:ext cx="2486679" cy="519545"/>
          </a:xfrm>
          <a:prstGeom prst="roundRect">
            <a:avLst>
              <a:gd name="adj" fmla="val 12320"/>
            </a:avLst>
          </a:prstGeom>
          <a:solidFill>
            <a:srgbClr val="F5C6C6"/>
          </a:solidFill>
          <a:ln w="15875">
            <a:solidFill>
              <a:srgbClr val="B95454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1141" y="2435629"/>
            <a:ext cx="2413527" cy="51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Sin VNet/private endpoint todavía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04565" y="3266902"/>
            <a:ext cx="2486679" cy="1143000"/>
          </a:xfrm>
          <a:prstGeom prst="roundRect">
            <a:avLst>
              <a:gd name="adj" fmla="val 5600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1141" y="3266902"/>
            <a:ext cx="24135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dominios externos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login.microsoftonline.com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graph.microsoft.com · *.sharepoint.com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api.openai.com · api.elevenlabs.io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7C78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833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punto de entrada (443)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DEBD0"/>
          </a:solidFill>
          <a:ln/>
        </p:spPr>
      </p:sp>
      <p:sp>
        <p:nvSpPr>
          <p:cNvPr id="20" name="Text 18"/>
          <p:cNvSpPr/>
          <p:nvPr/>
        </p:nvSpPr>
        <p:spPr>
          <a:xfrm>
            <a:off x="4096512" y="5833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HTTPS a terceros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5852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C6C6"/>
          </a:solidFill>
          <a:ln/>
        </p:spPr>
      </p:sp>
      <p:sp>
        <p:nvSpPr>
          <p:cNvPr id="22" name="Text 20"/>
          <p:cNvSpPr/>
          <p:nvPr/>
        </p:nvSpPr>
        <p:spPr>
          <a:xfrm>
            <a:off x="7022592" y="5833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mejora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OPERACIÓN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Arranque, parada y operación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Arranque: gestionado por Container Apps; cada réplica aplica migraciones y luego levanta uvicorn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Actualizaciones: nueva imagen → nueva revisión; rolling update gestionado por la plataforma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Container Apps permite volver a la revisión anterior — no revierte migraciones de base de datos por sí solo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tarea programada activa: el job de sincronización (cron cada 10 minutos)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2464308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3F8D72"/>
          </a:solidFill>
          <a:ln/>
        </p:spPr>
      </p:sp>
      <p:sp>
        <p:nvSpPr>
          <p:cNvPr id="9" name="Text 7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downtime explícito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8936" y="1709928"/>
            <a:ext cx="4026103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gestionado por Container Apps en cada actualización.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3845052"/>
            <a:ext cx="4282135" cy="2464308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88936" y="3954780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B97837"/>
          </a:solidFill>
          <a:ln/>
        </p:spPr>
      </p:sp>
      <p:sp>
        <p:nvSpPr>
          <p:cNvPr id="13" name="Text 11"/>
          <p:cNvSpPr/>
          <p:nvPr/>
        </p:nvSpPr>
        <p:spPr>
          <a:xfrm>
            <a:off x="7488936" y="3954780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 de BD — cuidado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88936" y="4320540"/>
            <a:ext cx="4026103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rollback de código no deshace migraciones aplicadas.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HARDENING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de la instalación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8138160"/>
                <a:gridCol w="237744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privilegio en roles RBAC de Azure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Implementado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 sin root (uid 10001)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Implementado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Puertos mínimos expuestos (8000 / 443)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Implementado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 fuera de la línea de comandos (Key Vault + Managed Identity)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Implementado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Lockfile real del backend 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existe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Escaneo de vulnerabilidades (SCA) en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existe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Escaneo de imagen de contenedor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existe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privada (VNet) para 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Planificado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automatizadas sobre logs/telemetría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existe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previo al paso a producción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8503920"/>
                <a:gridCol w="201168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la Application Access Policy de Exchange Online (correo)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el alcance exacto del permiso de SharePoint en Entra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Corregir el comando del job de sincronización en el Bicep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la vía de login real: Easy Auth o modo entra (ya implementado)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+ 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Automatizar la instalación del modelo spaCy en el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Añadir rate limiting a /api/chat/stream y /api/voice/stream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Activar Dependabot + escaneo de vulnerabilidades en 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el SKU real de PostgreSQL para la carga esperada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DPA con OpenAI/Azure OpenAI y ElevenLabs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/ Legal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es el último paso y todavía no hay nada contratado — esta es la condición para llegar a ese punto, no una lista ya completada.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09728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6C2F2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C7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Conexiones e integraciones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sistemas externos tocan los datos de mIA, con qué permisos y qué protección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integraciones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 flipV="1">
            <a:off x="6095848" y="1367624"/>
            <a:ext cx="9144" cy="232575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120349" y="1367624"/>
            <a:ext cx="3975499" cy="232575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826000" y="3290846"/>
            <a:ext cx="6471742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095848" y="1367624"/>
            <a:ext cx="3698138" cy="2325757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7743" y="3290846"/>
            <a:ext cx="1201895" cy="9144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0349" y="3693381"/>
            <a:ext cx="3975499" cy="626165"/>
          </a:xfrm>
          <a:prstGeom prst="line">
            <a:avLst/>
          </a:prstGeom>
          <a:noFill/>
          <a:ln w="22225">
            <a:solidFill>
              <a:srgbClr val="8D7B7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095848" y="3693381"/>
            <a:ext cx="3698138" cy="626165"/>
          </a:xfrm>
          <a:prstGeom prst="line">
            <a:avLst/>
          </a:prstGeom>
          <a:noFill/>
          <a:ln w="22225">
            <a:solidFill>
              <a:srgbClr val="8D7B7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893953" y="2888311"/>
            <a:ext cx="2403790" cy="805070"/>
          </a:xfrm>
          <a:prstGeom prst="roundRect">
            <a:avLst>
              <a:gd name="adj" fmla="val 7951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0529" y="2888311"/>
            <a:ext cx="2330638" cy="8050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(Azure, tenant del cliente)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3953" y="1367624"/>
            <a:ext cx="2403790" cy="670891"/>
          </a:xfrm>
          <a:prstGeom prst="roundRect">
            <a:avLst>
              <a:gd name="adj" fmla="val 9541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0529" y="1367624"/>
            <a:ext cx="2330638" cy="67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(identidad)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6000" y="1367624"/>
            <a:ext cx="2588697" cy="670891"/>
          </a:xfrm>
          <a:prstGeom prst="roundRect">
            <a:avLst>
              <a:gd name="adj" fmla="val 9541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2576" y="1367624"/>
            <a:ext cx="2515545" cy="67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(RRHH — personal)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6000" y="2888311"/>
            <a:ext cx="2588697" cy="670891"/>
          </a:xfrm>
          <a:prstGeom prst="roundRect">
            <a:avLst>
              <a:gd name="adj" fmla="val 9541"/>
            </a:avLst>
          </a:prstGeom>
          <a:solidFill>
            <a:srgbClr val="F5C6C6"/>
          </a:solidFill>
          <a:ln w="15875">
            <a:solidFill>
              <a:srgbClr val="B95454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2576" y="2888311"/>
            <a:ext cx="2515545" cy="67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Correo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(personal, ⚠ alcance)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99638" y="1367624"/>
            <a:ext cx="2588697" cy="670891"/>
          </a:xfrm>
          <a:prstGeom prst="roundRect">
            <a:avLst>
              <a:gd name="adj" fmla="val 9541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36214" y="1367624"/>
            <a:ext cx="2515545" cy="67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Azure OpenAI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(conversación)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99638" y="2888311"/>
            <a:ext cx="2588697" cy="670891"/>
          </a:xfrm>
          <a:prstGeom prst="roundRect">
            <a:avLst>
              <a:gd name="adj" fmla="val 9541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36214" y="2888311"/>
            <a:ext cx="2515545" cy="67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(voz, sin filtro PII)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6000" y="4319546"/>
            <a:ext cx="2588697" cy="670891"/>
          </a:xfrm>
          <a:prstGeom prst="roundRect">
            <a:avLst>
              <a:gd name="adj" fmla="val 9541"/>
            </a:avLst>
          </a:prstGeom>
          <a:solidFill>
            <a:srgbClr val="EDEDED"/>
          </a:solidFill>
          <a:ln w="15875">
            <a:solidFill>
              <a:srgbClr val="8D7B70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2576" y="4319546"/>
            <a:ext cx="2515545" cy="67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Conectia / A3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99638" y="4319546"/>
            <a:ext cx="2588697" cy="670891"/>
          </a:xfrm>
          <a:prstGeom prst="roundRect">
            <a:avLst>
              <a:gd name="adj" fmla="val 9541"/>
            </a:avLst>
          </a:prstGeom>
          <a:solidFill>
            <a:srgbClr val="EDEDED"/>
          </a:solidFill>
          <a:ln w="15875">
            <a:solidFill>
              <a:srgbClr val="8D7B70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36214" y="4319546"/>
            <a:ext cx="2515545" cy="67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/ 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7C78B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376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(dentro del tenant del cliente)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DEBD0"/>
          </a:solidFill>
          <a:ln/>
        </p:spPr>
      </p:sp>
      <p:sp>
        <p:nvSpPr>
          <p:cNvPr id="30" name="Text 28"/>
          <p:cNvSpPr/>
          <p:nvPr/>
        </p:nvSpPr>
        <p:spPr>
          <a:xfrm>
            <a:off x="4645152" y="5376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 — implementado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9808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C6C6"/>
          </a:solidFill>
          <a:ln/>
        </p:spPr>
      </p:sp>
      <p:sp>
        <p:nvSpPr>
          <p:cNvPr id="32" name="Text 30"/>
          <p:cNvSpPr/>
          <p:nvPr/>
        </p:nvSpPr>
        <p:spPr>
          <a:xfrm>
            <a:off x="7754112" y="5376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 — hallazgo crítico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DEDED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" y="5650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Planificado, sin conexión real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2544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externos confirmados en código: login.microsoftonline.com · graph.microsoft.com · *.sharepoint.com · api.openai.com · api.elevenlabs.io. Ningún otro dominio ni webhook.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— SHAREPOINT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SharePoint Online (RRHH)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Autenticación: certificado de aplicación vía MSAL (client-credentials), nunca API key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solicitado: .default — el repositorio NO fija qué permiso exacto se concede en Entra ID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empleados, turnos, vacaciones, nóminas (metadatos), documentos firmados, CVs, trabajo temporal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DNI/NIE y rutas con identidad se seudonimizan ANTES de persistir en PostgreSQL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2464308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5B7FA6"/>
          </a:solidFill>
          <a:ln/>
        </p:spPr>
      </p:sp>
      <p:sp>
        <p:nvSpPr>
          <p:cNvPr id="9" name="Text 7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8936" y="1709928"/>
            <a:ext cx="4026103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Sites.Selected, acotado al sitio RRHH y al portal — pendiente de confirmar en el tenant.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3845052"/>
            <a:ext cx="4282135" cy="2464308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88936" y="3954780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3F8D72"/>
          </a:solidFill>
          <a:ln/>
        </p:spPr>
      </p:sp>
      <p:sp>
        <p:nvSpPr>
          <p:cNvPr id="13" name="Text 11"/>
          <p:cNvSpPr/>
          <p:nvPr/>
        </p:nvSpPr>
        <p:spPr>
          <a:xfrm>
            <a:off x="7488936" y="3954780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Reintentos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88936" y="4320540"/>
            <a:ext cx="4026103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exponencial + jitter, respeto de Retry-After, sin circuit breaker (aceptable para un job en background).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— CORREO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Graph — Correo (buzón RRHH)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5454">
              <a:alpha val="15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existe / brecha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certificado de aplicación que SharePoint (credencial compartida)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repositorio reconoce: Mail.Read de aplicación da acceso a TODOS los buzones del tenant sin una Application Access Policy que lo acote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evidencia en el repositorio de que esa política ya exista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real desactivado por defecto, con confirmación humana explícita exigida si se activa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5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Exchange Online antes de producción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— IDENTIDAD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Entra ID (login y validación)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usuarios vía MSAL (frontend) + validación JWT completa (backend): firma, audiencia, issuer, expiración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lee solo el claim roles (App Roles asignados explícitamente) — nunca groups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reintento ante fallo de red al refrescar JWKS (mitigado por caché de 24h)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público /api/auth/config nunca devuelve secretos, solo tenant/client id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JWT completa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roles, nunca groups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5B7FA6">
              <a:alpha val="12000"/>
            </a:srgbClr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en infraestructura (Bicep)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— LLM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— OpenAI / Azure OpenAI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en Key Vault; Azure OpenAI es un camino de primera clase, no un añadido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viajan: instrucciones, historial, resultados de herramientas — protegidos por el Privacy Gateway si está activo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y no entrenamiento del proveedor: depende del contrato (DPA) — pendiente de confirmar por IT/legal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de coste ni de tasa agregado por usuario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0160"/>
            <a:ext cx="4282135" cy="2409444"/>
          </a:xfrm>
          <a:prstGeom prst="roundRect">
            <a:avLst>
              <a:gd name="adj" fmla="val 3036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470648" y="1280160"/>
            <a:ext cx="406267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70648" y="335127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máx. en 429/5xx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0920" y="3817620"/>
            <a:ext cx="4282135" cy="2409444"/>
          </a:xfrm>
          <a:prstGeom prst="roundRect">
            <a:avLst>
              <a:gd name="adj" fmla="val 3036"/>
            </a:avLst>
          </a:prstGeom>
          <a:solidFill>
            <a:srgbClr val="F2E8DA"/>
          </a:solidFill>
          <a:ln/>
        </p:spPr>
      </p:sp>
      <p:sp>
        <p:nvSpPr>
          <p:cNvPr id="11" name="Text 9"/>
          <p:cNvSpPr/>
          <p:nvPr/>
        </p:nvSpPr>
        <p:spPr>
          <a:xfrm>
            <a:off x="7470648" y="3817620"/>
            <a:ext cx="406267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70648" y="588873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por llamada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— VOZ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Voz — ElevenLabs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en Key Vault (cabecera xi-api-key); streaming de audio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enviado: respuesta del asistente YA con los tokens de Presidio restaurados a su valor real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filtro específico: nunca se envían importes monetarios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filtro de PII general (nombres, DNI, email, datos médicos) antes de salir a este proveedor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78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máximo por síntesis (sin límite agregado por usuario)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INTEGRACIONES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Conectia/A3, Azure AI Search y ML, webhooks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5B7FA6">
              <a:alpha val="15000"/>
            </a:srgbClr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Planificado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Conectia/A3 (fichajes): solo una interfaz abstracta que lanza NotImplementedError — advertencia explícita en el código de no usarla todavía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único operativo hoy: un importador manual de ficheros Excel exportados a mano — no es una conexión a un sistema externo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y Azure ML: solo contratos de interfaz vacíos, sin SDK ni credencial en el repositorio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entrantes y SMTP directo: no existen — búsqueda exhaustiva sin resultados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3F8D72"/>
          </a:solidFill>
          <a:ln/>
        </p:spPr>
      </p:sp>
      <p:sp>
        <p:nvSpPr>
          <p:cNvPr id="9" name="Text 7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falsos positivos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8936" y="1709928"/>
            <a:ext cx="4026103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integraciones se presenta como implementada sin estarlo — el propio código lo advierte.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—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datos hacia terceros</a:t>
            </a:r>
            <a:endParaRPr lang="en-US" sz="2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  <a:gridCol w="256032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de 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Voz (ElevenLabs)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Nómina — importes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Nunca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Nunca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Vacaciones / turnos / empleados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Vía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Sin filtro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— contenido médico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Con permiso extra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Sin filtro adicional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DNI / 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Seudonimizado antes de persistir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Tokenizado (Presidio)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Sin filtro específico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existencia expuesta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Solo instrucción de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nunca sale: importes de nómina, ni al LLM como cifra persistida fuera de lectura puntual auditada, ni nunca por voz. Matriz completa en docs/mIA_catalogo_integraciones.md.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— PERMISOS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solicitados vs. mínimos necesarios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017520"/>
                <a:gridCol w="2286000"/>
              </a:tblGrid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 usado hoy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recomendado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Verificable en el repo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.default (todo lo concedido)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Sites.Selected, 2 sitios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(Graph)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.default (Mail.Read/Send)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Application Access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(login)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roles únicamente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— ya es mínimo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/ Voz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de cuenta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(limitado por el proveedor)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F8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exactamente lo que IT debe aprobar con consentimiento de administrador antes de producción.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— RESILIENCIA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Resiliencia y degradación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  <a:gridCol w="3200400"/>
              </a:tblGrid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cae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de cuota/coste conocido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aislada; resto de fuentes continúa; datos ya sincronizados siguen disponibles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reintentos, concurrencia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(Graph)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de negocio al usuario, nunca excepción sin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Backoff, tope ~30s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de error genérica, nunca stack trace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Sin límite por usuario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 al 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Sin límite por usuario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— CREDENCIALES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credenciales por conexión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103120"/>
                <a:gridCol w="3108960"/>
              </a:tblGrid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vive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de una fuga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Certificado SharePoint + Correo (compartido)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automatizada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Alto — afecta a ambas integraciones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automatizada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— facturación/datos del proveedor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ElevenLabs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automatizada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— coste/abuso del servicio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de seudonimización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No debe rotarse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si se filtra junto a los datos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separar el certificado de SharePoint y Correo en dos credenciales distintas reduciría el radio de impacto de una fuga.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09728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6C2F2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C7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profundidad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de la revisión: amenazas, identidad, datos personales, LLM y cumplimiento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MODELO DE AMENAZAS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amenazas (activos y actores)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39800" y="3890356"/>
            <a:ext cx="1434623" cy="415636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046" y="3890356"/>
            <a:ext cx="1434623" cy="415636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5093" y="3890356"/>
            <a:ext cx="1434623" cy="415636"/>
          </a:xfrm>
          <a:prstGeom prst="line">
            <a:avLst/>
          </a:prstGeom>
          <a:noFill/>
          <a:ln w="22225">
            <a:solidFill>
              <a:srgbClr val="8D7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2582321" cy="779318"/>
          </a:xfrm>
          <a:prstGeom prst="roundRect">
            <a:avLst>
              <a:gd name="adj" fmla="val 8213"/>
            </a:avLst>
          </a:prstGeom>
          <a:solidFill>
            <a:srgbClr val="F5C6C6"/>
          </a:solidFill>
          <a:ln w="15875">
            <a:solidFill>
              <a:srgbClr val="B95454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1188720"/>
            <a:ext cx="2509169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nómina/RRHH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7885" y="1188720"/>
            <a:ext cx="2582321" cy="779318"/>
          </a:xfrm>
          <a:prstGeom prst="roundRect">
            <a:avLst>
              <a:gd name="adj" fmla="val 8213"/>
            </a:avLst>
          </a:prstGeom>
          <a:solidFill>
            <a:srgbClr val="F5C6C6"/>
          </a:solidFill>
          <a:ln w="15875">
            <a:solidFill>
              <a:srgbClr val="B95454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4461" y="1188720"/>
            <a:ext cx="2509169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Credenciales/certificados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87131" y="1188720"/>
            <a:ext cx="2582321" cy="779318"/>
          </a:xfrm>
          <a:prstGeom prst="roundRect">
            <a:avLst>
              <a:gd name="adj" fmla="val 8213"/>
            </a:avLst>
          </a:prstGeom>
          <a:solidFill>
            <a:srgbClr val="F5C6C6"/>
          </a:solidFill>
          <a:ln w="15875">
            <a:solidFill>
              <a:srgbClr val="B95454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23707" y="1188720"/>
            <a:ext cx="2509169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Sesión/identidad de usuario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56376" y="1188720"/>
            <a:ext cx="2486679" cy="779318"/>
          </a:xfrm>
          <a:prstGeom prst="roundRect">
            <a:avLst>
              <a:gd name="adj" fmla="val 8213"/>
            </a:avLst>
          </a:prstGeom>
          <a:solidFill>
            <a:srgbClr val="F5C6C6"/>
          </a:solidFill>
          <a:ln w="15875">
            <a:solidFill>
              <a:srgbClr val="B95454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2952" y="1188720"/>
            <a:ext cx="2413527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Disponibilidad/coste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851265"/>
            <a:ext cx="2582321" cy="1039091"/>
          </a:xfrm>
          <a:prstGeom prst="roundRect">
            <a:avLst>
              <a:gd name="adj" fmla="val 616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" y="2851265"/>
            <a:ext cx="2509169" cy="103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/ rol mal asignado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acceso excesivo a datos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17885" y="2851265"/>
            <a:ext cx="2582321" cy="1039091"/>
          </a:xfrm>
          <a:prstGeom prst="roundRect">
            <a:avLst>
              <a:gd name="adj" fmla="val 616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54461" y="2851265"/>
            <a:ext cx="2509169" cy="103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(documento/correo malicioso)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87131" y="2851265"/>
            <a:ext cx="2582321" cy="1039091"/>
          </a:xfrm>
          <a:prstGeom prst="roundRect">
            <a:avLst>
              <a:gd name="adj" fmla="val 616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23707" y="2851265"/>
            <a:ext cx="2509169" cy="103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credencial compartida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(SharePoint + Correo)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56376" y="2851265"/>
            <a:ext cx="2486679" cy="1039091"/>
          </a:xfrm>
          <a:prstGeom prst="roundRect">
            <a:avLst>
              <a:gd name="adj" fmla="val 6160"/>
            </a:avLst>
          </a:prstGeom>
          <a:solidFill>
            <a:srgbClr val="F2E8DA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92952" y="2851265"/>
            <a:ext cx="2413527" cy="103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Abuso de coste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rate limiting)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83263" y="4305993"/>
            <a:ext cx="2582321" cy="935182"/>
          </a:xfrm>
          <a:prstGeom prst="roundRect">
            <a:avLst>
              <a:gd name="adj" fmla="val 6844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9839" y="4305993"/>
            <a:ext cx="2509169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a nivel de dato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52508" y="4305993"/>
            <a:ext cx="2582321" cy="935182"/>
          </a:xfrm>
          <a:prstGeom prst="roundRect">
            <a:avLst>
              <a:gd name="adj" fmla="val 6844"/>
            </a:avLst>
          </a:prstGeom>
          <a:solidFill>
            <a:srgbClr val="E7C78B"/>
          </a:solidFill>
          <a:ln w="15875">
            <a:solidFill>
              <a:srgbClr val="6C2F2B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89084" y="4305993"/>
            <a:ext cx="2509169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arquitectónica (permisos deterministas)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21753" y="4305993"/>
            <a:ext cx="2486679" cy="935182"/>
          </a:xfrm>
          <a:prstGeom prst="roundRect">
            <a:avLst>
              <a:gd name="adj" fmla="val 6844"/>
            </a:avLst>
          </a:prstGeom>
          <a:solidFill>
            <a:srgbClr val="FDEBD0"/>
          </a:solidFill>
          <a:ln w="15875">
            <a:solidFill>
              <a:srgbClr val="B97837"/>
            </a:solidFill>
            <a:prstDash val="solid"/>
          </a:ln>
          <a:effectLst>
            <a:outerShdw sx="100000" sy="100000" kx="0" ky="0" algn="bl" rotWithShape="0" blurRad="50800" dist="12700" dir="5400000">
              <a:srgbClr val="342923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58329" y="4305993"/>
            <a:ext cx="2413527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 pendiente: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2544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 STRIDE: 5 de 6 categorías mitigadas; Denial of Service sigue abierta (sin rate limiting).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AUTENTICACIÓN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Autenticación: tres modos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identidad fija de pruebas — BLOQUEADA por código si el entorno es producción (con test dedicado)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easyauth: login gestionado por la plataforma Azure — es la vía de producción configurada hoy en el Bicep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entra: validación JWT propia completa, con MSAL real en el frontend — implementada y probada, pero no conectada aún en la infraestructura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nunca lee el claim groups de Entra ID, solo roles asignados explícitamente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bloqueado en producción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easyauth conectado en Azure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5B7FA6">
              <a:alpha val="12000"/>
            </a:srgbClr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conectado en Azure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AUTENTICACIÓN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JWT, en detalle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RS256 verificada contra el JWKS del tenant, con caché de 24h y refresco ante rotación de clave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(aud), emisor (iss) y expiración comprobados explícitamente — no solo por defecto de la librería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escenarios de test: válido, sin cabecera, audiencia incorrecta, emisor incorrecto, expirado, clave no reconocida (key confusion)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usa MSAL.js real, con caché en sessionStorage (no cookies) y pantalla de acceso restringido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8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de rechazo de token cubiertos por 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AUTORIZACIÓN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permisos y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permisos granulares por dominio/acción (p. ej. NOMINAS_IMPORTES, DOCUMENTOS_CONTENIDO_MEDICO)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 Roles reales de Entra ID: Global, RRHH, RRHH.NoNominas, Administracion, Legal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 confirma que el rol real RRHH y el de desarrollo mia.rrhh dan EXACTAMENTE el mismo acceso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y Administracion tienen alcance acotado, no acceso general — verificado por test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0160"/>
            <a:ext cx="4282135" cy="2409444"/>
          </a:xfrm>
          <a:prstGeom prst="roundRect">
            <a:avLst>
              <a:gd name="adj" fmla="val 3036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470648" y="1280160"/>
            <a:ext cx="406267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70648" y="335127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granulares distintos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0920" y="3817620"/>
            <a:ext cx="4282135" cy="2409444"/>
          </a:xfrm>
          <a:prstGeom prst="roundRect">
            <a:avLst>
              <a:gd name="adj" fmla="val 3036"/>
            </a:avLst>
          </a:prstGeom>
          <a:solidFill>
            <a:srgbClr val="F2E8DA"/>
          </a:solidFill>
          <a:ln/>
        </p:spPr>
      </p:sp>
      <p:sp>
        <p:nvSpPr>
          <p:cNvPr id="11" name="Text 9"/>
          <p:cNvSpPr/>
          <p:nvPr/>
        </p:nvSpPr>
        <p:spPr>
          <a:xfrm>
            <a:off x="7470648" y="3817620"/>
            <a:ext cx="406267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70648" y="5888736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Roles reales de Entra 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AUTORIZACIÓN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 nivel de dato, no solo de ruta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Importes de nómina: permiso específico (NOMINAS_IMPORTES) exigido dentro de la propia herramienta, no solo en la ruta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médico de documentos: permiso adicional (DOCUMENTOS_CONTENIDO_MEDICO), bloqueo explícito verificado por test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(regla FIR-001): depende SOLO de instrucción al LLM en el prompt — sin puerta de código equivalente verificada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 tres casos tienen control que no depende de que el modelo “obedezca”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Importes de nómina — puerta de código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médico — puerta de código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7837">
              <a:alpha val="12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— solo instrucción de prompt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PII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 de PII: Presidio, dónde y qué detecta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punto de salida al LLM, sin bypass arquitectónico posible: build_llm_provider() siempre envuelve en PrivacyGateway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Reconocedores españoles con dígito de control REAL (no solo forma): DNI/NIE, IBAN, Seguridad Social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registra solo tipo y recuento de entidades, nunca el valor original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español (es_core_news_lg) — sin soporte de inglés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Reconocedores ES con checksum real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sin exponer el valor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de inglés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PII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Presidio: reversibilidad y fallo seguro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Vault cifrado (Fernet), reversible SOLO dentro de la misma operación (TTL 900s) — nunca en disco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anonimización irreversible por diseño (no tiene sentido gastar una entrada del vault por cada CV)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fail_open=False por defecto y BLOQUEADO en producción: cualquier fallo de Presidio bloquea la llamada, nunca degrada en silencio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 CRÍTICO: el Privacy Gateway viene DESACTIVADO por defecto fuera de producción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466344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5648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5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125773"/>
            <a:ext cx="3733495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valor por defecto de MIA_PRIVACY_GATEWAY__ENABLED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Mitigado por un validador que obliga enabled=true cuando MIA_ENVIRONMENT=production — esa garantía depende de que Azure esté correctamente etiquetado, algo que el código no puede verificar por sí solo.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CIFRADO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tránsito: TLS validado en TODOS los clientes HTTP del repositorio — sin ningún verify=False encontrado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conexión forzada con ?ssl=require en la infraestructura Azure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reposo: secretos en Key Vault; datos operativos en PostgreSQL Flexible Server (cifrado en reposo nativo de Azure)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 seudonimización (HMAC) y clave del Token Vault (Fernet) gestionadas como secretos independientes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2464308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3F8D72"/>
          </a:solidFill>
          <a:ln/>
        </p:spPr>
      </p:sp>
      <p:sp>
        <p:nvSpPr>
          <p:cNvPr id="9" name="Text 7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verify=False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8936" y="1709928"/>
            <a:ext cx="4026103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exhaustiva en todo el repositorio, sin resultados.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3845052"/>
            <a:ext cx="4282135" cy="2464308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88936" y="3954780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3F8D72"/>
          </a:solidFill>
          <a:ln/>
        </p:spPr>
      </p:sp>
      <p:sp>
        <p:nvSpPr>
          <p:cNvPr id="13" name="Text 11"/>
          <p:cNvSpPr/>
          <p:nvPr/>
        </p:nvSpPr>
        <p:spPr>
          <a:xfrm>
            <a:off x="7488936" y="3954780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Account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88936" y="4320540"/>
            <a:ext cx="4026103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mínimo, sin claves compartidas, sin acceso público.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Secretos y configuración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campos SecretStr declarados en el código; todos coinciden con .env.example sin valores reales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Azure: Key Vault + Managed Identity con rol de solo lectura (Key Vault Secrets User) — nunca credenciales embebidas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comprobaciones de arranque bloquean producción si falta configuración mínima de seguridad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indicios de secretos reales en el historial de git (comprobación acotada; se recomienda gitleaks/trufflehog como verificación adicional)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8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comprobaciones “fail-closed” distintas al arrancar en producción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LLM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LLM: datos no confiables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herramientas (correo, SharePoint) se envuelven con delimitadores explícitos de “dato no confiable”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código reconoce con honestidad: el delimitado NO garantiza que el modelo lo respete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prompt injection = patrones regex, usados SOLO para auditoría — nunca bloquean la petición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mitigación real es arquitectónica: permisos deterministas en el registro de herramientas, nunca una decisión de seguridad basada en texto del modelo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7837">
              <a:alpha val="12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Envoltura de dato no confiable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automático de inyección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 arquitectónica (permisos)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LLM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de herramientas y confirmación humana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8 rondas de herramientas y 120s de presupuesto por turno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correo: la salvaguarda MEJOR implementada de todo el sistema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confirmar en el MISMO turno en que se creó el borrador — fuerza una pausa humana real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confirmación léxica explícita, verifica buzón de origen y bloquea destinatarios no-reply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8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exigidas antes de permitir el envío real de un correo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LLM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Salvaguardas de nómina y documentos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Importes de nómina: lectura puntual con permiso propio, auditada, NUNCA en voz alta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FIR-001 (firmas) existe literalmente en el código — no es una invención de la documentación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 honesto ya señalizado en el propio código: si se activa la indexación de contenido sensible, “nunca se guarda” deja de ser absoluto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acceso a contenido sensible en cada ejecución, con user_id, acción y resultado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B97837"/>
          </a:solidFill>
          <a:ln/>
        </p:spPr>
      </p:sp>
      <p:sp>
        <p:nvSpPr>
          <p:cNvPr id="9" name="Text 7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ya tomada, no oculta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8936" y="1709928"/>
            <a:ext cx="4026103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MIA_DATA__INDEX_SENSITIVE_CONTENT cambia el significado de la regla y el propio código lo documenta.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LLM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Coste, cuotas y enrutado fuera de contexto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1200 tokens de salida y 8 turnos de historial por defecto — reduce coste/latencia por turno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modelo (FAST/BALANCED/ADVANCED) para enrutar a modelos más baratos cuando no se necesita capacidad avanzada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rate limiting ni control de coste AGREGADO por usuario — hallazgo de severidad alta ya mencionado en la capa de API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fuera de contexto: reciben el catálogo COMPLETO de herramientas permitidas, no un modo de menor privilegio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5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de cuota/coste agregados por usuario o sesión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AUDITORÍA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y trazabilidad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ejecución de una herramienta sensible queda registrada: user_id, acción, recurso, resultado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redactan automáticamente claves sensibles (api_key, password, secret, token) antes de escribirse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NUNCA se registra: el valor original de una entidad protegida por Presidio (solo tipo y recuento)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integración con SIEM definida — decisión pendiente con IT si existe uno corporativo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acceso a datos sensibles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 secretos en logs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5B7FA6">
              <a:alpha val="12000"/>
            </a:srgbClr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SIEM del cliente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la aplicación y cadena de suministro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robusta de adjuntos: allowlist + magic-bytes + denylist + protección anti path-traversal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sin lockfile real... no: frontend SÍ tiene lockfile (npm ci); el backend Python NO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Dependabot ni escaneo de vulnerabilidades (pip-audit/npm audit/trivy) en ningún punto del pipeline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cabeceras Content-Security-Policy y Strict-Transport-Security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adjuntos (OWASP)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 backend Python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5454">
              <a:alpha val="12000"/>
            </a:srgbClr>
          </a:solidFill>
          <a:ln w="12700">
            <a:solidFill>
              <a:srgbClr val="B9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vulnerabilidades en CI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MULTIUSUARIO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Aislamiento multiusuario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por (session_id, user_id): reutilizar la sesión de otro usuario devuelve 403 REAL, con test end-to-end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Vault del Privacy Gateway aislado por (user_id, operation_id, token) — un token de otra sesión nunca se restaura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ningún almacén de contexto compartido entre usuarios distintos (sin caché global de resultados)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prueba (^test, ^tezt) excluidas de la sincronización de datos reales — verificado por test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8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real confirmada por test si un usuario reutiliza la sesión de otro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CUMPLIMIENTO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Cumplimiento: RGPD / LOPDGDD y Reglamento de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RGPD/LOPDGDD: minimización aplicada (seudonimización, proyección sin cifras para nóminas) — base legal y derechos de los interesados a confirmar con legal del cliente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recomendada para el dominio de RRHH y, cuando exista, para el módulo predictivo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Europeo de IA (2024/1689): el propio código documenta que el módulo predictivo NO se implementa hasta completar la evaluación legal de riesgo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ENS: no hay referencia en el repositorio — a valorar según el perfil del cliente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3F8D72"/>
          </a:solidFill>
          <a:ln/>
        </p:spPr>
      </p:sp>
      <p:sp>
        <p:nvSpPr>
          <p:cNvPr id="9" name="Text 7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de riesgo ya tomada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8936" y="1709928"/>
            <a:ext cx="4026103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predictivo espera evaluación legal antes de construirse — no es una omisión, es una decisión documentada.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 y respuesta a incidentes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97837">
              <a:alpha val="15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Parcial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de PostgreSQL gestionados por Azure (14 días en producción, 7 en dev) — sin RTO/RPO formalizado en el repositorio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fuga de credenciales: rotar en Key Vault (manual, no automatizada hoy)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prompt injection exitosa: la mitigación real es arquitectónica (permisos), no depende de detectar el incidente a tiempo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exposición de PII: el fail-closed de Presidio bloquea la llamada antes de que el dato salga — pero solo si el gateway está activo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proceso formal de respuesta a incidentes documentado — a definir con IT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14d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backups de PostgreSQL en producción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INTEGRACIONES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las integraciones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F8D72">
              <a:alpha val="15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certificados TLS en TODA salida — sin ningún verify=False en el repositorio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SharePoint y correo tratados como NO CONFIABLES antes de entrar en el prompt del LLM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allow-list de dominios para los resultados de búsqueda web (delegado íntegramente al proveedor LLM)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aisladas por integración, salvo el certificado compartido entre SharePoint y Correo (ver hallazgo)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8930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128930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2984" y="128930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validado en todas las salidas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98094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3F8D72">
              <a:alpha val="12000"/>
            </a:srgbClr>
          </a:solidFill>
          <a:ln w="12700">
            <a:solidFill>
              <a:srgbClr val="3F8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298094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298094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externos tratados como no confiables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672584"/>
            <a:ext cx="4282135" cy="1581912"/>
          </a:xfrm>
          <a:prstGeom prst="roundRect">
            <a:avLst>
              <a:gd name="adj" fmla="val 3468"/>
            </a:avLst>
          </a:prstGeom>
          <a:solidFill>
            <a:srgbClr val="B97837">
              <a:alpha val="12000"/>
            </a:srgbClr>
          </a:solidFill>
          <a:ln w="12700">
            <a:solidFill>
              <a:srgbClr val="B97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4672584"/>
            <a:ext cx="457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2984" y="4672584"/>
            <a:ext cx="3696919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separadas por integración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PROVEEDORES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625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Proveedores externos y protección de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57055" y="4389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5B7FA6">
              <a:alpha val="15000"/>
            </a:srgbClr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7055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Planificado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Azure OpenAI y ElevenLabs reciben datos potencialmente personales tras la protección del Privacy Gateway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de procesamiento, retención y política de no entrenamiento: dependen del contrato (DPA) con cada proveedor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es verificable desde el código — requiere revisión de IT/legal antes de procesar datos reales de empleados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permite mantener el procesamiento dentro del propio tenant/región de Azure del cliente, si se prioriza sobre OpenAI directo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2135"/>
            </a:avLst>
          </a:prstGeom>
          <a:solidFill>
            <a:srgbClr val="F2E8D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325880"/>
            <a:ext cx="4282135" cy="2791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7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DPA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4380890"/>
            <a:ext cx="3733495" cy="177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confirmar con OpenAI/Azure OpenAI y ElevenLabs antes de producción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09728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6C2F2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C7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controles, hallazgos priorizados y hoja de ruta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controles (capa × estado)</a:t>
            </a:r>
            <a:endParaRPr lang="en-US" sz="24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4480560"/>
                <a:gridCol w="1920240"/>
                <a:gridCol w="1645920"/>
                <a:gridCol w="1737360"/>
                <a:gridCol w="1371600"/>
              </a:tblGrid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Autenticación, autorización, secretos, aislamiento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LLM, Presidio, motor conversacional, voz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Integraciones externas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Despliegue, infraestructura, procesos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Frontend, API, cadena de suministro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(108 controles evaluados)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de los controles evaluados están implementados y verificados en código. Detalle completo en docs/auditoria_arquitectura_mia.md.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— HALLAZGOS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de prioridad alta</a:t>
            </a:r>
            <a:endParaRPr lang="en-US" sz="24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846320"/>
        </p:xfrm>
        <a:graphic>
          <a:graphicData uri="http://schemas.openxmlformats.org/drawingml/2006/table">
            <a:tbl>
              <a:tblPr/>
              <a:tblGrid>
                <a:gridCol w="7132320"/>
                <a:gridCol w="2560320"/>
                <a:gridCol w="1554480"/>
              </a:tblGrid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Esfuerzo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Verificar en Exchange Online el alcance real del permiso de Graph 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Corregir el comando del job de sincronización (mia.sync → mia.ingestion.sync)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Añadir rate limiting a /api/chat/stream y /api/voice/stream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Activar Dependabot y escaneo de vulnerabilidades en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Automatizar la instalación del modelo spaCy en el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5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Comunicar con claridad el alcance real de dominios (solo RRHH)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— HALLAZGOS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de prioridad media y baja</a:t>
            </a:r>
            <a:endParaRPr lang="en-US" sz="2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8778240"/>
                <a:gridCol w="2468880"/>
              </a:tblGrid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Declarar explícitamente los permisos mínimos de Graph/SharePoint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Añadir lockfile real para el backend 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Añadir cabeceras Content-Security-Policy y Strict-Transport-Security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Guardarraíl fail-closed en producción para cors_origins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la vía de despliegue real del modo entra o confirmar Easy 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Separar el certificado de SharePoint y Correo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 la generación de informes a Blob Storage (hoy en /tmp)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7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de inglés en Presidio, si se prevé contenido en ese idioma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Baja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 de código para la regla FIR-001 (firmas)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Baja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Escaneo antivirus de adjuntos; red privada (VNet) para 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Baja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— ANEXO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Anexo: variables de configuración relacionadas con seguridad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MIA_AUTH__MODE — dev / easyauth / entra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MIA_PRIVACY_GATEWAY__ENABLED y __FAIL_OPEN — obligatorios en producción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MIA_DATA__PSEUDONYM_KEY — no debe rotarse una vez generada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MIA_LLM__PROVIDER — “fake” prohibido en producción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MIA_MAIL__SEND_ENABLED — envío real de correo, desactivado por defecto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MIA_DATA__INDEX_SENSITIVE_CONTENT — cambia el significado de “nunca se guarda” si se activa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muestran valores, solo nombres y propósito — el detalle completo está en .env.example y en docs/mIA_guia_instalacion_operacion.md sección 1.6.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09728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6C2F2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C7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Responsabilidades y peticiones a 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responsable de qué, y qué necesitamos de IT para avanzar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 por capa y control</a:t>
            </a:r>
            <a:endParaRPr lang="en-US" sz="24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846320"/>
        </p:xfrm>
        <a:graphic>
          <a:graphicData uri="http://schemas.openxmlformats.org/drawingml/2006/table">
            <a:tbl>
              <a:tblPr/>
              <a:tblGrid>
                <a:gridCol w="4663440"/>
                <a:gridCol w="3291840"/>
                <a:gridCol w="3291840"/>
              </a:tblGrid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/ capa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del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Microsoft 365 / Entra ID (App Registration, consentimiento)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 técnico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Access Policy de Exchange Online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 y asignación de App Roles a usuarios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de Azure, cuotas, costes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 requisitos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de la aplicación e infraestructura como código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Aprueba cambios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Parcheo de dependencias / CVEs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Notificado si hay ventana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Monitorización y alertas (hoy no existen)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 los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 de proveedores externos (OpenAI, ElevenLabs)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técnica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completo (incluye Key Vault, backups, respuesta a incidentes) en docs/mIA_guia_instalacion_operacion.md sección 8.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necesito de IT — lista priorizada</a:t>
            </a:r>
            <a:endParaRPr lang="en-US" sz="24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846320"/>
        </p:xfrm>
        <a:graphic>
          <a:graphicData uri="http://schemas.openxmlformats.org/drawingml/2006/table">
            <a:tbl>
              <a:tblPr/>
              <a:tblGrid>
                <a:gridCol w="4389120"/>
                <a:gridCol w="6858000"/>
              </a:tblGrid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Consentimiento de administrador a los permisos de aplicación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esto, la sincronización y el correo no funcionan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Confirmar/crear la Application Access Policy de Exchange Online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de seguridad — acota el alcance real del permiso de correo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grupos/roles por persona en el App Registration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quién accede a qué dominio de RRHH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de Azure y SKU de PostgreSQL para la carga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 es el mínimo (Standard_B1ms) en ambos entornos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reglas de red/firewall para el egress a los 5 dominios externos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bloqueos inesperados en producción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 legal/DPA de OpenAI (o Azure OpenAI) y ElevenLabs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procesar datos reales de empleados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 sobre integración con el SIEM corporativo, si existe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Afecta al diseño de alertas 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 y traspaso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repositorio Git — ubicación final según acuerdo con el cliente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Secretos: viven en Azure Key Vault, dentro de la suscripción del cliente — el cliente puede rotarlos/revocarlos sin depender del desarrollador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 esta presentación y los 3 documentos técnicos están pensados para que IT opere sin el desarrollador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desarrollador deja de dar soporte: IT necesita acceso administrativo a Azure, acceso al código, y confirmación de que ningún secreto depende de una cuenta personal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B97837"/>
          </a:solidFill>
          <a:ln/>
        </p:spPr>
      </p:sp>
      <p:sp>
        <p:nvSpPr>
          <p:cNvPr id="7" name="Text 5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Condición de traspaso limpio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88936" y="1709928"/>
            <a:ext cx="4026103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secreto ni cuenta de servicio debe depender de una cuenta personal del desarrollador — a confirmar explícitamente.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 y cambios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92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Incidentes: canal a definir con el cliente — no existe hoy un proceso formal documentado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 código: vía el pipeline de CI/CD existente; el despliegue a Azure es manual hoy, no automatizado desde CI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permisos/alcance: cualquier cambio en Graph/SharePoint requiere nuevo consentimiento de administrador de IT</a:t>
            </a:r>
            <a:endParaRPr lang="en-US" sz="1450" dirty="0"/>
          </a:p>
          <a:p>
            <a:pPr algn="l"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de mantenimiento: a definir — no hay una establecida en la configuración actual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60920" y="1234440"/>
            <a:ext cx="4282135" cy="5074920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12700">
            <a:solidFill>
              <a:srgbClr val="EAD8C4"/>
            </a:solidFill>
            <a:prstDash val="solid"/>
          </a:ln>
          <a:effectLst>
            <a:outerShdw sx="100000" sy="100000" kx="0" ky="0" algn="bl" rotWithShape="0" blurRad="76200" dist="25400" dir="5400000">
              <a:srgbClr val="34292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88936" y="1344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5B7FA6"/>
          </a:solidFill>
          <a:ln/>
        </p:spPr>
      </p:sp>
      <p:sp>
        <p:nvSpPr>
          <p:cNvPr id="7" name="Text 5"/>
          <p:cNvSpPr/>
          <p:nvPr/>
        </p:nvSpPr>
        <p:spPr>
          <a:xfrm>
            <a:off x="7488936" y="1344168"/>
            <a:ext cx="4026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manual hoy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88936" y="1709928"/>
            <a:ext cx="4026103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2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paso de CI que publique en el registro ni que ejecute el despliegue a Azure — por diseño actual, no un olvido.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F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2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que necesitamos de IT (con fecha deseada)</a:t>
            </a:r>
            <a:endParaRPr lang="en-US" sz="24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4937760"/>
        </p:xfrm>
        <a:graphic>
          <a:graphicData uri="http://schemas.openxmlformats.org/drawingml/2006/table">
            <a:tbl>
              <a:tblPr/>
              <a:tblGrid>
                <a:gridCol w="8595360"/>
                <a:gridCol w="265176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deseada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F2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 final de producción y SKU, tras la estimación de costes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definir en esta reunión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 de Graph a conceder con MSAL (modo entra vs. Easy Auth)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iniciar el despliegue de producción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de retención de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producción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con el SIEM del cliente, si existe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producción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Segregación de entornos (dev / preprod / producción)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2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producción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5 decisiones son el cierre natural de esta sesión — producción es el último paso y todavía no hay nada contratado.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6C2F2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pasos: validar las decisiones pendientes (sección de Decisiones que necesitamos de IT) y resolver los hallazgos de prioridad alta antes de planificar producción.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en el repositorio: docs/auditoria_arquitectura_mia.md · docs/mIA_guia_instalacion_operacion.md · docs/mIA_catalogo_integraciones.md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A Security">
  <a:themeElements>
    <a:clrScheme name="mIA Security">
      <a:dk1>
        <a:srgbClr val="342923"/>
      </a:dk1>
      <a:lt1>
        <a:srgbClr val="FFFFFF"/>
      </a:lt1>
      <a:dk2>
        <a:srgbClr val="4A1F1C"/>
      </a:dk2>
      <a:lt2>
        <a:srgbClr val="F2E8DA"/>
      </a:lt2>
      <a:accent1>
        <a:srgbClr val="DF6847"/>
      </a:accent1>
      <a:accent2>
        <a:srgbClr val="C89A4A"/>
      </a:accent2>
      <a:accent3>
        <a:srgbClr val="6C2F2B"/>
      </a:accent3>
      <a:accent4>
        <a:srgbClr val="3F8D72"/>
      </a:accent4>
      <a:accent5>
        <a:srgbClr val="5B7FA6"/>
      </a:accent5>
      <a:accent6>
        <a:srgbClr val="B97837"/>
      </a:accent6>
      <a:hlink>
        <a:srgbClr val="DF6847"/>
      </a:hlink>
      <a:folHlink>
        <a:srgbClr val="6C2F2B"/>
      </a:folHlink>
    </a:clrScheme>
    <a:fontScheme name="mIA Security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Sunset Beach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2026-10-20T10:57:49Z</dcterms:created>
  <dcterms:modified xsi:type="dcterms:W3CDTF">2026-10-20T10:57:49Z</dcterms:modified>
</cp:coreProperties>
</file>